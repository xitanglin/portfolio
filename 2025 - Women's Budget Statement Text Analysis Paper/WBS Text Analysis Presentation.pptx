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33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</p:sldIdLst>
  <p:sldSz cx="12192000" cy="6858000"/>
  <p:notesSz cx="7104063" cy="10234613"/>
  <p:embeddedFontLst>
    <p:embeddedFont>
      <p:font typeface="Microsoft Yahei" panose="020B0503020204020204" pitchFamily="34" charset="-122"/>
      <p:regular r:id="rId34"/>
      <p:bold r:id="rId35"/>
    </p:embeddedFont>
    <p:embeddedFont>
      <p:font typeface="Impact" panose="020B0806030902050204" pitchFamily="34" charset="0"/>
      <p:regular r:id="rId36"/>
    </p:embeddedFont>
    <p:embeddedFont>
      <p:font typeface="Questrial" pitchFamily="2" charset="0"/>
      <p:regular r:id="rId37"/>
    </p:embeddedFont>
    <p:embeddedFont>
      <p:font typeface="Verdana" panose="020B0604030504040204" pitchFamily="34" charset="0"/>
      <p:regular r:id="rId38"/>
      <p:bold r:id="rId39"/>
      <p:italic r:id="rId40"/>
      <p:bold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2" roundtripDataSignature="AMtx7mhHj38fN/xqGUI7/oi05SDicNuC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E625AE-10F7-8492-DA22-6D5F9BAAE804}" v="93" dt="2025-12-02T22:42:19.059"/>
  </p1510:revLst>
</p1510:revInfo>
</file>

<file path=ppt/tableStyles.xml><?xml version="1.0" encoding="utf-8"?>
<a:tblStyleLst xmlns:a="http://schemas.openxmlformats.org/drawingml/2006/main" def="{337543C6-B601-45F2-AF5A-87857800B40B}">
  <a:tblStyle styleId="{337543C6-B601-45F2-AF5A-87857800B40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AF5"/>
          </a:solidFill>
        </a:fill>
      </a:tcStyle>
    </a:wholeTbl>
    <a:band1H>
      <a:tcTxStyle/>
      <a:tcStyle>
        <a:tcBdr/>
        <a:fill>
          <a:solidFill>
            <a:srgbClr val="CFD2EB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2EB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6.fntdata"/><Relationship Id="rId21" Type="http://schemas.openxmlformats.org/officeDocument/2006/relationships/slide" Target="slides/slide17.xml"/><Relationship Id="rId34" Type="http://schemas.openxmlformats.org/officeDocument/2006/relationships/font" Target="fonts/font1.fntdata"/><Relationship Id="rId42" Type="http://customschemas.google.com/relationships/presentationmetadata" Target="metadata"/><Relationship Id="rId47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3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font" Target="fonts/font2.fntdata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46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font" Target="fonts/font8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m, Solbee" userId="S::dal460230@utdallas.edu::b6669e18-02eb-486e-8310-4136af079f85" providerId="AD" clId="Web-{28E625AE-10F7-8492-DA22-6D5F9BAAE804}"/>
    <pc:docChg chg="modSld">
      <pc:chgData name="Kim, Solbee" userId="S::dal460230@utdallas.edu::b6669e18-02eb-486e-8310-4136af079f85" providerId="AD" clId="Web-{28E625AE-10F7-8492-DA22-6D5F9BAAE804}" dt="2025-12-02T22:42:19.059" v="53" actId="20577"/>
      <pc:docMkLst>
        <pc:docMk/>
      </pc:docMkLst>
      <pc:sldChg chg="addSp modSp">
        <pc:chgData name="Kim, Solbee" userId="S::dal460230@utdallas.edu::b6669e18-02eb-486e-8310-4136af079f85" providerId="AD" clId="Web-{28E625AE-10F7-8492-DA22-6D5F9BAAE804}" dt="2025-12-02T22:42:19.059" v="53" actId="20577"/>
        <pc:sldMkLst>
          <pc:docMk/>
          <pc:sldMk cId="0" sldId="260"/>
        </pc:sldMkLst>
        <pc:spChg chg="add mod">
          <ac:chgData name="Kim, Solbee" userId="S::dal460230@utdallas.edu::b6669e18-02eb-486e-8310-4136af079f85" providerId="AD" clId="Web-{28E625AE-10F7-8492-DA22-6D5F9BAAE804}" dt="2025-12-02T22:42:19.059" v="53" actId="20577"/>
          <ac:spMkLst>
            <pc:docMk/>
            <pc:sldMk cId="0" sldId="260"/>
            <ac:spMk id="2" creationId="{4394C58F-2BFF-12E3-9921-E0A4DCA5EC7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024313" y="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82600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72185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" name="Google Shape;78;p1:notes"/>
          <p:cNvSpPr txBox="1">
            <a:spLocks noGrp="1"/>
          </p:cNvSpPr>
          <p:nvPr>
            <p:ph type="body" idx="1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:notes"/>
          <p:cNvSpPr txBox="1">
            <a:spLocks noGrp="1"/>
          </p:cNvSpPr>
          <p:nvPr>
            <p:ph type="sldNum" idx="12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>
            <a:spLocks noGrp="1"/>
          </p:cNvSpPr>
          <p:nvPr>
            <p:ph type="body" idx="1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 txBox="1">
            <a:spLocks noGrp="1"/>
          </p:cNvSpPr>
          <p:nvPr>
            <p:ph type="body" idx="1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cbed7db4e_7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acbed7db4e_7_3:notes"/>
          <p:cNvSpPr txBox="1">
            <a:spLocks noGrp="1"/>
          </p:cNvSpPr>
          <p:nvPr>
            <p:ph type="body" idx="1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g3acbed7db4e_7_3:notes"/>
          <p:cNvSpPr txBox="1">
            <a:spLocks noGrp="1"/>
          </p:cNvSpPr>
          <p:nvPr>
            <p:ph type="sldNum" idx="12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 txBox="1">
            <a:spLocks noGrp="1"/>
          </p:cNvSpPr>
          <p:nvPr>
            <p:ph type="body" idx="1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:notes"/>
          <p:cNvSpPr txBox="1">
            <a:spLocks noGrp="1"/>
          </p:cNvSpPr>
          <p:nvPr>
            <p:ph type="body" idx="1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 txBox="1">
            <a:spLocks noGrp="1"/>
          </p:cNvSpPr>
          <p:nvPr>
            <p:ph type="body" idx="1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acbed7db4e_2_13:notes"/>
          <p:cNvSpPr txBox="1">
            <a:spLocks noGrp="1"/>
          </p:cNvSpPr>
          <p:nvPr>
            <p:ph type="body" idx="1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g3acbed7db4e_2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00" cy="3454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acbed7db4e_8_29:notes"/>
          <p:cNvSpPr txBox="1">
            <a:spLocks noGrp="1"/>
          </p:cNvSpPr>
          <p:nvPr>
            <p:ph type="body" idx="1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g3acbed7db4e_8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00" cy="3454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acbed7db4e_0_11:notes"/>
          <p:cNvSpPr txBox="1">
            <a:spLocks noGrp="1"/>
          </p:cNvSpPr>
          <p:nvPr>
            <p:ph type="body" idx="1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g3acbed7db4e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00" cy="3454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:notes"/>
          <p:cNvSpPr txBox="1">
            <a:spLocks noGrp="1"/>
          </p:cNvSpPr>
          <p:nvPr>
            <p:ph type="body" idx="1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acbed7db4e_4_0:notes"/>
          <p:cNvSpPr txBox="1">
            <a:spLocks noGrp="1"/>
          </p:cNvSpPr>
          <p:nvPr>
            <p:ph type="body" idx="1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g3acbed7db4e_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00" cy="3454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6" name="Google Shape;246;p10:notes"/>
          <p:cNvSpPr txBox="1">
            <a:spLocks noGrp="1"/>
          </p:cNvSpPr>
          <p:nvPr>
            <p:ph type="body" idx="1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0:notes"/>
          <p:cNvSpPr txBox="1">
            <a:spLocks noGrp="1"/>
          </p:cNvSpPr>
          <p:nvPr>
            <p:ph type="sldNum" idx="12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acbed7db4e_5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00" cy="3454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7" name="Google Shape;257;g3acbed7db4e_5_8:notes"/>
          <p:cNvSpPr txBox="1">
            <a:spLocks noGrp="1"/>
          </p:cNvSpPr>
          <p:nvPr>
            <p:ph type="body" idx="1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g3acbed7db4e_5_8:notes"/>
          <p:cNvSpPr txBox="1">
            <a:spLocks noGrp="1"/>
          </p:cNvSpPr>
          <p:nvPr>
            <p:ph type="sldNum" idx="12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6" name="Google Shape;266;p11:notes"/>
          <p:cNvSpPr txBox="1">
            <a:spLocks noGrp="1"/>
          </p:cNvSpPr>
          <p:nvPr>
            <p:ph type="body" idx="1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1:notes"/>
          <p:cNvSpPr txBox="1">
            <a:spLocks noGrp="1"/>
          </p:cNvSpPr>
          <p:nvPr>
            <p:ph type="sldNum" idx="12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acbed7db4e_5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00" cy="3454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6" name="Google Shape;276;g3acbed7db4e_5_21:notes"/>
          <p:cNvSpPr txBox="1">
            <a:spLocks noGrp="1"/>
          </p:cNvSpPr>
          <p:nvPr>
            <p:ph type="body" idx="1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g3acbed7db4e_5_21:notes"/>
          <p:cNvSpPr txBox="1">
            <a:spLocks noGrp="1"/>
          </p:cNvSpPr>
          <p:nvPr>
            <p:ph type="sldNum" idx="12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4:notes"/>
          <p:cNvSpPr txBox="1">
            <a:spLocks noGrp="1"/>
          </p:cNvSpPr>
          <p:nvPr>
            <p:ph type="body" idx="1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5:notes"/>
          <p:cNvSpPr txBox="1">
            <a:spLocks noGrp="1"/>
          </p:cNvSpPr>
          <p:nvPr>
            <p:ph type="body" idx="1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6:notes"/>
          <p:cNvSpPr txBox="1">
            <a:spLocks noGrp="1"/>
          </p:cNvSpPr>
          <p:nvPr>
            <p:ph type="body" idx="1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7:notes"/>
          <p:cNvSpPr txBox="1">
            <a:spLocks noGrp="1"/>
          </p:cNvSpPr>
          <p:nvPr>
            <p:ph type="body" idx="1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3:notes"/>
          <p:cNvSpPr txBox="1">
            <a:spLocks noGrp="1"/>
          </p:cNvSpPr>
          <p:nvPr>
            <p:ph type="body" idx="1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acbed7db4e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00" cy="3454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acbed7db4e_0_30:notes"/>
          <p:cNvSpPr txBox="1">
            <a:spLocks noGrp="1"/>
          </p:cNvSpPr>
          <p:nvPr>
            <p:ph type="body" idx="1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g3acbed7db4e_0_30:notes"/>
          <p:cNvSpPr txBox="1">
            <a:spLocks noGrp="1"/>
          </p:cNvSpPr>
          <p:nvPr>
            <p:ph type="sldNum" idx="12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acbed7db4e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00" cy="3454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acbed7db4e_0_36:notes"/>
          <p:cNvSpPr txBox="1">
            <a:spLocks noGrp="1"/>
          </p:cNvSpPr>
          <p:nvPr>
            <p:ph type="body" idx="1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g3acbed7db4e_0_36:notes"/>
          <p:cNvSpPr txBox="1">
            <a:spLocks noGrp="1"/>
          </p:cNvSpPr>
          <p:nvPr>
            <p:ph type="sldNum" idx="12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acbed7db4e_11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00" cy="3454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acbed7db4e_11_8:notes"/>
          <p:cNvSpPr txBox="1">
            <a:spLocks noGrp="1"/>
          </p:cNvSpPr>
          <p:nvPr>
            <p:ph type="body" idx="1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g3acbed7db4e_11_8:notes"/>
          <p:cNvSpPr txBox="1">
            <a:spLocks noGrp="1"/>
          </p:cNvSpPr>
          <p:nvPr>
            <p:ph type="sldNum" idx="12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acbed7db4e_2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00" cy="3454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6" name="Google Shape;366;g3acbed7db4e_2_1:notes"/>
          <p:cNvSpPr txBox="1">
            <a:spLocks noGrp="1"/>
          </p:cNvSpPr>
          <p:nvPr>
            <p:ph type="body" idx="1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g3acbed7db4e_2_1:notes"/>
          <p:cNvSpPr txBox="1">
            <a:spLocks noGrp="1"/>
          </p:cNvSpPr>
          <p:nvPr>
            <p:ph type="sldNum" idx="12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acbed7db4e_8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00" cy="3454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5" name="Google Shape;375;g3acbed7db4e_8_15:notes"/>
          <p:cNvSpPr txBox="1">
            <a:spLocks noGrp="1"/>
          </p:cNvSpPr>
          <p:nvPr>
            <p:ph type="body" idx="1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g3acbed7db4e_8_15:notes"/>
          <p:cNvSpPr txBox="1">
            <a:spLocks noGrp="1"/>
          </p:cNvSpPr>
          <p:nvPr>
            <p:ph type="sldNum" idx="12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8:notes"/>
          <p:cNvSpPr txBox="1">
            <a:spLocks noGrp="1"/>
          </p:cNvSpPr>
          <p:nvPr>
            <p:ph type="body" idx="1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4"/>
          <p:cNvSpPr txBox="1"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3" name="Google Shape;43;p24"/>
          <p:cNvSpPr txBox="1">
            <a:spLocks noGrp="1"/>
          </p:cNvSpPr>
          <p:nvPr>
            <p:ph type="body" idx="2"/>
          </p:nvPr>
        </p:nvSpPr>
        <p:spPr>
          <a:xfrm>
            <a:off x="1186774" y="2665379"/>
            <a:ext cx="4873574" cy="3524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4"/>
          <p:cNvSpPr txBox="1">
            <a:spLocks noGrp="1"/>
          </p:cNvSpPr>
          <p:nvPr>
            <p:ph type="body" idx="3"/>
          </p:nvPr>
        </p:nvSpPr>
        <p:spPr>
          <a:xfrm>
            <a:off x="6256938" y="1778438"/>
            <a:ext cx="4897576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5" name="Google Shape;45;p24"/>
          <p:cNvSpPr txBox="1">
            <a:spLocks noGrp="1"/>
          </p:cNvSpPr>
          <p:nvPr>
            <p:ph type="body" idx="4"/>
          </p:nvPr>
        </p:nvSpPr>
        <p:spPr>
          <a:xfrm>
            <a:off x="6256938" y="2665379"/>
            <a:ext cx="4897576" cy="3524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7"/>
          <p:cNvSpPr>
            <a:spLocks noGrp="1"/>
          </p:cNvSpPr>
          <p:nvPr>
            <p:ph type="pic" idx="2"/>
          </p:nvPr>
        </p:nvSpPr>
        <p:spPr>
          <a:xfrm>
            <a:off x="5183188" y="457201"/>
            <a:ext cx="6172200" cy="5403850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2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4165349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62" name="Google Shape;62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版" type="vertTitleAndTx">
  <p:cSld name="VERTICAL_TITLE_AND_VERTICAL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" type="objOnly">
  <p:cSld name="OBJECT_ONLY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9"/>
          <p:cNvSpPr txBox="1">
            <a:spLocks noGrp="1"/>
          </p:cNvSpPr>
          <p:nvPr>
            <p:ph type="body" idx="1"/>
          </p:nvPr>
        </p:nvSpPr>
        <p:spPr>
          <a:xfrm>
            <a:off x="838200" y="365125"/>
            <a:ext cx="10515600" cy="5811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p1"/>
          <p:cNvGrpSpPr/>
          <p:nvPr/>
        </p:nvGrpSpPr>
        <p:grpSpPr>
          <a:xfrm>
            <a:off x="0" y="6655442"/>
            <a:ext cx="12192000" cy="202557"/>
            <a:chOff x="0" y="1371600"/>
            <a:chExt cx="12192000" cy="1371600"/>
          </a:xfrm>
        </p:grpSpPr>
        <p:sp>
          <p:nvSpPr>
            <p:cNvPr id="82" name="Google Shape;82;p1"/>
            <p:cNvSpPr/>
            <p:nvPr/>
          </p:nvSpPr>
          <p:spPr>
            <a:xfrm>
              <a:off x="1524000" y="1371600"/>
              <a:ext cx="1524000" cy="13716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" name="Google Shape;83;p1"/>
            <p:cNvSpPr/>
            <p:nvPr/>
          </p:nvSpPr>
          <p:spPr>
            <a:xfrm>
              <a:off x="9144000" y="1371600"/>
              <a:ext cx="1524000" cy="1371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" name="Google Shape;84;p1"/>
            <p:cNvSpPr/>
            <p:nvPr/>
          </p:nvSpPr>
          <p:spPr>
            <a:xfrm>
              <a:off x="10668000" y="1371600"/>
              <a:ext cx="1524000" cy="1371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" name="Google Shape;85;p1"/>
            <p:cNvSpPr/>
            <p:nvPr/>
          </p:nvSpPr>
          <p:spPr>
            <a:xfrm>
              <a:off x="0" y="1371600"/>
              <a:ext cx="1524000" cy="1371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1"/>
            <p:cNvSpPr/>
            <p:nvPr/>
          </p:nvSpPr>
          <p:spPr>
            <a:xfrm>
              <a:off x="6096000" y="1371600"/>
              <a:ext cx="1524000" cy="1371600"/>
            </a:xfrm>
            <a:prstGeom prst="rect">
              <a:avLst/>
            </a:prstGeom>
            <a:solidFill>
              <a:srgbClr val="B2D2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7;p1"/>
            <p:cNvSpPr/>
            <p:nvPr/>
          </p:nvSpPr>
          <p:spPr>
            <a:xfrm>
              <a:off x="3048000" y="1371600"/>
              <a:ext cx="1524000" cy="1371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" name="Google Shape;88;p1"/>
            <p:cNvSpPr/>
            <p:nvPr/>
          </p:nvSpPr>
          <p:spPr>
            <a:xfrm>
              <a:off x="7620000" y="1371600"/>
              <a:ext cx="1524000" cy="13716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1"/>
            <p:cNvSpPr/>
            <p:nvPr/>
          </p:nvSpPr>
          <p:spPr>
            <a:xfrm>
              <a:off x="4572000" y="1371600"/>
              <a:ext cx="1524000" cy="1371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0" name="Google Shape;90;p1"/>
          <p:cNvSpPr/>
          <p:nvPr/>
        </p:nvSpPr>
        <p:spPr>
          <a:xfrm rot="10800000" flipH="1">
            <a:off x="4842297" y="-281608"/>
            <a:ext cx="2507406" cy="1192788"/>
          </a:xfrm>
          <a:custGeom>
            <a:avLst/>
            <a:gdLst/>
            <a:ahLst/>
            <a:cxnLst/>
            <a:rect l="l" t="t" r="r" b="b"/>
            <a:pathLst>
              <a:path w="2185602" h="1104977" extrusionOk="0">
                <a:moveTo>
                  <a:pt x="1092801" y="0"/>
                </a:moveTo>
                <a:cubicBezTo>
                  <a:pt x="1696338" y="0"/>
                  <a:pt x="2185602" y="489264"/>
                  <a:pt x="2185602" y="1092801"/>
                </a:cubicBezTo>
                <a:lnTo>
                  <a:pt x="2184987" y="1104977"/>
                </a:lnTo>
                <a:lnTo>
                  <a:pt x="615" y="1104977"/>
                </a:lnTo>
                <a:lnTo>
                  <a:pt x="0" y="1092801"/>
                </a:lnTo>
                <a:cubicBezTo>
                  <a:pt x="0" y="489264"/>
                  <a:pt x="489264" y="0"/>
                  <a:pt x="109280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1263749" y="1512548"/>
            <a:ext cx="10427400" cy="17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rPr>
              <a:t>Gender Responsive Budgeting </a:t>
            </a:r>
            <a:r>
              <a:rPr lang="en-US" sz="430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rPr>
              <a:t>(GRB) </a:t>
            </a:r>
            <a:r>
              <a:rPr lang="en-US" sz="540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rPr>
              <a:t>in Australia</a:t>
            </a:r>
            <a:endParaRPr sz="5400" b="1" i="0" u="none" strike="noStrike" cap="none">
              <a:solidFill>
                <a:srgbClr val="7F7F7F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2315550" y="3982944"/>
            <a:ext cx="7560899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member: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Xi Tang Lin (Co), Zhangfan Huang, Solbee Kim, Xinyu Yan </a:t>
            </a:r>
            <a:endParaRPr/>
          </a:p>
        </p:txBody>
      </p:sp>
      <p:grpSp>
        <p:nvGrpSpPr>
          <p:cNvPr id="93" name="Google Shape;93;p1"/>
          <p:cNvGrpSpPr/>
          <p:nvPr/>
        </p:nvGrpSpPr>
        <p:grpSpPr>
          <a:xfrm>
            <a:off x="4906963" y="5005360"/>
            <a:ext cx="2378074" cy="436246"/>
            <a:chOff x="4929134" y="3536850"/>
            <a:chExt cx="1783556" cy="327184"/>
          </a:xfrm>
        </p:grpSpPr>
        <p:sp>
          <p:nvSpPr>
            <p:cNvPr id="94" name="Google Shape;94;p1"/>
            <p:cNvSpPr/>
            <p:nvPr/>
          </p:nvSpPr>
          <p:spPr>
            <a:xfrm>
              <a:off x="4929134" y="3536850"/>
              <a:ext cx="1783556" cy="327184"/>
            </a:xfrm>
            <a:prstGeom prst="roundRect">
              <a:avLst>
                <a:gd name="adj" fmla="val 50000"/>
              </a:avLst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35" b="0" i="0" u="none" strike="noStrike" cap="none">
                <a:solidFill>
                  <a:srgbClr val="063C6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1"/>
            <p:cNvSpPr txBox="1"/>
            <p:nvPr/>
          </p:nvSpPr>
          <p:spPr>
            <a:xfrm>
              <a:off x="5305624" y="3559472"/>
              <a:ext cx="1030571" cy="2845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65" b="0" i="0" u="none" strike="noStrike" cap="none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EPPS 6302</a:t>
              </a:r>
              <a:endParaRPr/>
            </a:p>
          </p:txBody>
        </p:sp>
      </p:grp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0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/>
          <p:nvPr/>
        </p:nvSpPr>
        <p:spPr>
          <a:xfrm>
            <a:off x="-118233" y="0"/>
            <a:ext cx="2837789" cy="6858000"/>
          </a:xfrm>
          <a:custGeom>
            <a:avLst/>
            <a:gdLst/>
            <a:ahLst/>
            <a:cxnLst/>
            <a:rect l="l" t="t" r="r" b="b"/>
            <a:pathLst>
              <a:path w="2837789" h="6858000" extrusionOk="0">
                <a:moveTo>
                  <a:pt x="0" y="0"/>
                </a:moveTo>
                <a:lnTo>
                  <a:pt x="537934" y="0"/>
                </a:lnTo>
                <a:lnTo>
                  <a:pt x="704850" y="0"/>
                </a:lnTo>
                <a:lnTo>
                  <a:pt x="2837789" y="0"/>
                </a:lnTo>
                <a:lnTo>
                  <a:pt x="2837789" y="395378"/>
                </a:lnTo>
                <a:lnTo>
                  <a:pt x="2618085" y="417526"/>
                </a:lnTo>
                <a:cubicBezTo>
                  <a:pt x="2121320" y="519179"/>
                  <a:pt x="1747634" y="958717"/>
                  <a:pt x="1747634" y="1485534"/>
                </a:cubicBezTo>
                <a:cubicBezTo>
                  <a:pt x="1747634" y="2012352"/>
                  <a:pt x="2121320" y="2451889"/>
                  <a:pt x="2618085" y="2553542"/>
                </a:cubicBezTo>
                <a:lnTo>
                  <a:pt x="2837789" y="2575690"/>
                </a:lnTo>
                <a:lnTo>
                  <a:pt x="2837789" y="6858000"/>
                </a:lnTo>
                <a:lnTo>
                  <a:pt x="704850" y="6858000"/>
                </a:lnTo>
                <a:lnTo>
                  <a:pt x="53793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5" b="0" i="0" u="none" strike="noStrike" cap="non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1" name="Google Shape;101;p2"/>
          <p:cNvGrpSpPr/>
          <p:nvPr/>
        </p:nvGrpSpPr>
        <p:grpSpPr>
          <a:xfrm>
            <a:off x="1527270" y="293248"/>
            <a:ext cx="2384573" cy="2384573"/>
            <a:chOff x="4240335" y="3008435"/>
            <a:chExt cx="3711332" cy="3711332"/>
          </a:xfrm>
        </p:grpSpPr>
        <p:sp>
          <p:nvSpPr>
            <p:cNvPr id="102" name="Google Shape;102;p2"/>
            <p:cNvSpPr/>
            <p:nvPr/>
          </p:nvSpPr>
          <p:spPr>
            <a:xfrm>
              <a:off x="4240335" y="3008435"/>
              <a:ext cx="3711332" cy="3711332"/>
            </a:xfrm>
            <a:prstGeom prst="ellipse">
              <a:avLst/>
            </a:prstGeom>
            <a:gradFill>
              <a:gsLst>
                <a:gs pos="0">
                  <a:schemeClr val="lt1"/>
                </a:gs>
                <a:gs pos="100000">
                  <a:srgbClr val="BFBFBF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3" name="Google Shape;103;p2"/>
            <p:cNvGrpSpPr/>
            <p:nvPr/>
          </p:nvGrpSpPr>
          <p:grpSpPr>
            <a:xfrm>
              <a:off x="4710169" y="3478269"/>
              <a:ext cx="2771663" cy="2771663"/>
              <a:chOff x="2193191" y="1899415"/>
              <a:chExt cx="2421376" cy="2421376"/>
            </a:xfrm>
          </p:grpSpPr>
          <p:sp>
            <p:nvSpPr>
              <p:cNvPr id="104" name="Google Shape;104;p2"/>
              <p:cNvSpPr/>
              <p:nvPr/>
            </p:nvSpPr>
            <p:spPr>
              <a:xfrm>
                <a:off x="2193191" y="1899415"/>
                <a:ext cx="2421376" cy="2421376"/>
              </a:xfrm>
              <a:prstGeom prst="ellipse">
                <a:avLst/>
              </a:prstGeom>
              <a:solidFill>
                <a:schemeClr val="accent3"/>
              </a:solidFill>
              <a:ln w="31750" cap="flat" cmpd="sng">
                <a:solidFill>
                  <a:srgbClr val="BFBFB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5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" name="Google Shape;105;p2"/>
              <p:cNvSpPr/>
              <p:nvPr/>
            </p:nvSpPr>
            <p:spPr>
              <a:xfrm>
                <a:off x="2345502" y="2051726"/>
                <a:ext cx="2116756" cy="2116756"/>
              </a:xfrm>
              <a:prstGeom prst="ellipse">
                <a:avLst/>
              </a:prstGeom>
              <a:solidFill>
                <a:srgbClr val="F2F2F2"/>
              </a:solidFill>
              <a:ln>
                <a:noFill/>
              </a:ln>
              <a:effectLst>
                <a:outerShdw blurRad="152400" dist="76200" dir="2700000" algn="tl" rotWithShape="0">
                  <a:srgbClr val="568C11">
                    <a:alpha val="63921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5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06" name="Google Shape;106;p2"/>
          <p:cNvSpPr txBox="1"/>
          <p:nvPr/>
        </p:nvSpPr>
        <p:spPr>
          <a:xfrm>
            <a:off x="4425800" y="1054525"/>
            <a:ext cx="41169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i="0" u="none" strike="noStrike" cap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CONTENTS </a:t>
            </a:r>
            <a:endParaRPr sz="5000" b="1">
              <a:solidFill>
                <a:srgbClr val="595959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1815450" y="1208434"/>
            <a:ext cx="1808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595959"/>
                </a:solidFill>
                <a:latin typeface="Questrial"/>
                <a:ea typeface="Questrial"/>
                <a:cs typeface="Questrial"/>
                <a:sym typeface="Questrial"/>
              </a:rPr>
              <a:t>Outline</a:t>
            </a:r>
            <a:endParaRPr sz="3000">
              <a:solidFill>
                <a:srgbClr val="595959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3875927" y="1972516"/>
            <a:ext cx="4856297" cy="60959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BFBFBF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5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9" name="Google Shape;109;p2"/>
          <p:cNvGrpSpPr/>
          <p:nvPr/>
        </p:nvGrpSpPr>
        <p:grpSpPr>
          <a:xfrm>
            <a:off x="4338547" y="2353612"/>
            <a:ext cx="5094211" cy="824257"/>
            <a:chOff x="4247964" y="2133922"/>
            <a:chExt cx="4070159" cy="647441"/>
          </a:xfrm>
        </p:grpSpPr>
        <p:sp>
          <p:nvSpPr>
            <p:cNvPr id="110" name="Google Shape;110;p2"/>
            <p:cNvSpPr txBox="1"/>
            <p:nvPr/>
          </p:nvSpPr>
          <p:spPr>
            <a:xfrm>
              <a:off x="5016623" y="2260238"/>
              <a:ext cx="3301500" cy="44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65" b="1">
                  <a:solidFill>
                    <a:srgbClr val="262626"/>
                  </a:solidFill>
                  <a:latin typeface="Calibri"/>
                  <a:ea typeface="Calibri"/>
                  <a:cs typeface="Calibri"/>
                  <a:sym typeface="Calibri"/>
                </a:rPr>
                <a:t>Research Background</a:t>
              </a:r>
              <a:endParaRPr sz="3065" b="1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4247964" y="2133922"/>
              <a:ext cx="647740" cy="647441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 w="25400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65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426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2" name="Google Shape;112;p2"/>
          <p:cNvGrpSpPr/>
          <p:nvPr/>
        </p:nvGrpSpPr>
        <p:grpSpPr>
          <a:xfrm>
            <a:off x="4335747" y="3445519"/>
            <a:ext cx="5097015" cy="824257"/>
            <a:chOff x="4247964" y="2133922"/>
            <a:chExt cx="4002368" cy="647441"/>
          </a:xfrm>
        </p:grpSpPr>
        <p:sp>
          <p:nvSpPr>
            <p:cNvPr id="113" name="Google Shape;113;p2"/>
            <p:cNvSpPr txBox="1"/>
            <p:nvPr/>
          </p:nvSpPr>
          <p:spPr>
            <a:xfrm>
              <a:off x="5001932" y="2222156"/>
              <a:ext cx="3248400" cy="44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65" b="1">
                  <a:solidFill>
                    <a:srgbClr val="262626"/>
                  </a:solidFill>
                  <a:latin typeface="Calibri"/>
                  <a:ea typeface="Calibri"/>
                  <a:cs typeface="Calibri"/>
                  <a:sym typeface="Calibri"/>
                </a:rPr>
                <a:t>Research Questions</a:t>
              </a:r>
              <a:endParaRPr sz="3065" b="1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4247964" y="2133922"/>
              <a:ext cx="647740" cy="647441"/>
            </a:xfrm>
            <a:prstGeom prst="roundRect">
              <a:avLst>
                <a:gd name="adj" fmla="val 16667"/>
              </a:avLst>
            </a:prstGeom>
            <a:solidFill>
              <a:schemeClr val="accent4"/>
            </a:solidFill>
            <a:ln w="25400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65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426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5" name="Google Shape;115;p2"/>
          <p:cNvGrpSpPr/>
          <p:nvPr/>
        </p:nvGrpSpPr>
        <p:grpSpPr>
          <a:xfrm>
            <a:off x="4338669" y="4537438"/>
            <a:ext cx="4735785" cy="824260"/>
            <a:chOff x="4247964" y="2133922"/>
            <a:chExt cx="3718658" cy="647441"/>
          </a:xfrm>
        </p:grpSpPr>
        <p:sp>
          <p:nvSpPr>
            <p:cNvPr id="116" name="Google Shape;116;p2"/>
            <p:cNvSpPr txBox="1"/>
            <p:nvPr/>
          </p:nvSpPr>
          <p:spPr>
            <a:xfrm>
              <a:off x="5004122" y="2222158"/>
              <a:ext cx="2962500" cy="44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65" b="1">
                  <a:solidFill>
                    <a:srgbClr val="262626"/>
                  </a:solidFill>
                  <a:latin typeface="Calibri"/>
                  <a:ea typeface="Calibri"/>
                  <a:cs typeface="Calibri"/>
                  <a:sym typeface="Calibri"/>
                </a:rPr>
                <a:t>Methods &amp; Results</a:t>
              </a:r>
              <a:endParaRPr sz="3065" b="1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4247964" y="2133922"/>
              <a:ext cx="647740" cy="647441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 w="25400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65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426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8" name="Google Shape;118;p2"/>
          <p:cNvGrpSpPr/>
          <p:nvPr/>
        </p:nvGrpSpPr>
        <p:grpSpPr>
          <a:xfrm>
            <a:off x="4321732" y="5627258"/>
            <a:ext cx="5411435" cy="823981"/>
            <a:chOff x="4247964" y="2132499"/>
            <a:chExt cx="4249196" cy="648864"/>
          </a:xfrm>
        </p:grpSpPr>
        <p:sp>
          <p:nvSpPr>
            <p:cNvPr id="119" name="Google Shape;119;p2"/>
            <p:cNvSpPr txBox="1"/>
            <p:nvPr/>
          </p:nvSpPr>
          <p:spPr>
            <a:xfrm>
              <a:off x="4972760" y="2221704"/>
              <a:ext cx="3524400" cy="44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65" b="1">
                  <a:solidFill>
                    <a:srgbClr val="262626"/>
                  </a:solidFill>
                  <a:latin typeface="Calibri"/>
                  <a:ea typeface="Calibri"/>
                  <a:cs typeface="Calibri"/>
                  <a:sym typeface="Calibri"/>
                </a:rPr>
                <a:t>Conclusion &amp; Discussion</a:t>
              </a:r>
              <a:endParaRPr sz="3065" b="1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4247964" y="2132499"/>
              <a:ext cx="647740" cy="648864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 w="25400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65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426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oogle Shape;125;p3"/>
          <p:cNvGrpSpPr/>
          <p:nvPr/>
        </p:nvGrpSpPr>
        <p:grpSpPr>
          <a:xfrm>
            <a:off x="1527270" y="1666124"/>
            <a:ext cx="2384573" cy="2384573"/>
            <a:chOff x="4240335" y="3008435"/>
            <a:chExt cx="3711332" cy="3711332"/>
          </a:xfrm>
        </p:grpSpPr>
        <p:sp>
          <p:nvSpPr>
            <p:cNvPr id="126" name="Google Shape;126;p3"/>
            <p:cNvSpPr/>
            <p:nvPr/>
          </p:nvSpPr>
          <p:spPr>
            <a:xfrm>
              <a:off x="4240335" y="3008435"/>
              <a:ext cx="3711332" cy="3711332"/>
            </a:xfrm>
            <a:prstGeom prst="ellipse">
              <a:avLst/>
            </a:prstGeom>
            <a:gradFill>
              <a:gsLst>
                <a:gs pos="0">
                  <a:schemeClr val="lt1"/>
                </a:gs>
                <a:gs pos="100000">
                  <a:srgbClr val="BFBFBF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7" name="Google Shape;127;p3"/>
            <p:cNvGrpSpPr/>
            <p:nvPr/>
          </p:nvGrpSpPr>
          <p:grpSpPr>
            <a:xfrm>
              <a:off x="4710169" y="3478269"/>
              <a:ext cx="2771663" cy="2771663"/>
              <a:chOff x="2193191" y="1899415"/>
              <a:chExt cx="2421376" cy="2421376"/>
            </a:xfrm>
          </p:grpSpPr>
          <p:sp>
            <p:nvSpPr>
              <p:cNvPr id="128" name="Google Shape;128;p3"/>
              <p:cNvSpPr/>
              <p:nvPr/>
            </p:nvSpPr>
            <p:spPr>
              <a:xfrm>
                <a:off x="2193191" y="1899415"/>
                <a:ext cx="2421376" cy="2421376"/>
              </a:xfrm>
              <a:prstGeom prst="ellipse">
                <a:avLst/>
              </a:prstGeom>
              <a:solidFill>
                <a:schemeClr val="accent5"/>
              </a:solidFill>
              <a:ln w="31750" cap="flat" cmpd="sng">
                <a:solidFill>
                  <a:srgbClr val="BFBFB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5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" name="Google Shape;129;p3"/>
              <p:cNvSpPr/>
              <p:nvPr/>
            </p:nvSpPr>
            <p:spPr>
              <a:xfrm>
                <a:off x="2345502" y="2051726"/>
                <a:ext cx="2116756" cy="2116756"/>
              </a:xfrm>
              <a:prstGeom prst="ellipse">
                <a:avLst/>
              </a:prstGeom>
              <a:solidFill>
                <a:srgbClr val="F2F2F2"/>
              </a:solidFill>
              <a:ln>
                <a:noFill/>
              </a:ln>
              <a:effectLst>
                <a:outerShdw blurRad="152400" dist="63500" dir="2700000" algn="tl" rotWithShape="0">
                  <a:srgbClr val="568C11">
                    <a:alpha val="63921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5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30" name="Google Shape;130;p3"/>
          <p:cNvSpPr/>
          <p:nvPr/>
        </p:nvSpPr>
        <p:spPr>
          <a:xfrm>
            <a:off x="600" y="-348344"/>
            <a:ext cx="2718956" cy="7417183"/>
          </a:xfrm>
          <a:custGeom>
            <a:avLst/>
            <a:gdLst/>
            <a:ahLst/>
            <a:cxnLst/>
            <a:rect l="l" t="t" r="r" b="b"/>
            <a:pathLst>
              <a:path w="2837789" h="8001905" extrusionOk="0">
                <a:moveTo>
                  <a:pt x="0" y="0"/>
                </a:moveTo>
                <a:lnTo>
                  <a:pt x="2837788" y="0"/>
                </a:lnTo>
                <a:lnTo>
                  <a:pt x="2837788" y="1968500"/>
                </a:lnTo>
                <a:lnTo>
                  <a:pt x="2837789" y="1968500"/>
                </a:lnTo>
                <a:lnTo>
                  <a:pt x="2837789" y="2363879"/>
                </a:lnTo>
                <a:lnTo>
                  <a:pt x="2618085" y="2386026"/>
                </a:lnTo>
                <a:cubicBezTo>
                  <a:pt x="2121320" y="2487680"/>
                  <a:pt x="1747634" y="2927218"/>
                  <a:pt x="1747634" y="3454034"/>
                </a:cubicBezTo>
                <a:cubicBezTo>
                  <a:pt x="1747634" y="3980852"/>
                  <a:pt x="2121320" y="4420389"/>
                  <a:pt x="2618085" y="4522042"/>
                </a:cubicBezTo>
                <a:lnTo>
                  <a:pt x="2837789" y="4544190"/>
                </a:lnTo>
                <a:lnTo>
                  <a:pt x="2837789" y="6858000"/>
                </a:lnTo>
                <a:lnTo>
                  <a:pt x="2837788" y="6858000"/>
                </a:lnTo>
                <a:lnTo>
                  <a:pt x="2837788" y="8001905"/>
                </a:lnTo>
                <a:lnTo>
                  <a:pt x="0" y="8001905"/>
                </a:lnTo>
                <a:lnTo>
                  <a:pt x="0" y="6858000"/>
                </a:lnTo>
                <a:lnTo>
                  <a:pt x="0" y="6376305"/>
                </a:lnTo>
                <a:lnTo>
                  <a:pt x="0" y="2133600"/>
                </a:lnTo>
                <a:lnTo>
                  <a:pt x="0" y="196850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5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3"/>
          <p:cNvSpPr/>
          <p:nvPr/>
        </p:nvSpPr>
        <p:spPr>
          <a:xfrm>
            <a:off x="4002060" y="4379076"/>
            <a:ext cx="6838231" cy="42891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BFBFBF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5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3"/>
          <p:cNvSpPr txBox="1"/>
          <p:nvPr/>
        </p:nvSpPr>
        <p:spPr>
          <a:xfrm>
            <a:off x="4375562" y="2112327"/>
            <a:ext cx="48051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>
                <a:solidFill>
                  <a:schemeClr val="accent5"/>
                </a:solidFill>
                <a:latin typeface="Impact"/>
                <a:ea typeface="Impact"/>
                <a:cs typeface="Impact"/>
                <a:sym typeface="Impact"/>
              </a:rPr>
              <a:t>PART   01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33" name="Google Shape;133;p3"/>
          <p:cNvSpPr txBox="1"/>
          <p:nvPr/>
        </p:nvSpPr>
        <p:spPr>
          <a:xfrm>
            <a:off x="5107549" y="4586325"/>
            <a:ext cx="3341100" cy="5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65">
                <a:solidFill>
                  <a:srgbClr val="3F3F3F"/>
                </a:solidFill>
                <a:latin typeface="Impact"/>
                <a:ea typeface="Impact"/>
                <a:cs typeface="Impact"/>
                <a:sym typeface="Impact"/>
              </a:rPr>
              <a:t>Research Background</a:t>
            </a:r>
            <a:endParaRPr>
              <a:latin typeface="Impact"/>
              <a:ea typeface="Impact"/>
              <a:cs typeface="Impact"/>
              <a:sym typeface="Impact"/>
            </a:endParaRPr>
          </a:p>
        </p:txBody>
      </p:sp>
      <p:grpSp>
        <p:nvGrpSpPr>
          <p:cNvPr id="134" name="Google Shape;134;p3"/>
          <p:cNvGrpSpPr/>
          <p:nvPr/>
        </p:nvGrpSpPr>
        <p:grpSpPr>
          <a:xfrm>
            <a:off x="2383327" y="2490049"/>
            <a:ext cx="702937" cy="707692"/>
            <a:chOff x="5042691" y="2273920"/>
            <a:chExt cx="702937" cy="707692"/>
          </a:xfrm>
        </p:grpSpPr>
        <p:sp>
          <p:nvSpPr>
            <p:cNvPr id="135" name="Google Shape;135;p3"/>
            <p:cNvSpPr/>
            <p:nvPr/>
          </p:nvSpPr>
          <p:spPr>
            <a:xfrm>
              <a:off x="5284806" y="2789968"/>
              <a:ext cx="460822" cy="191644"/>
            </a:xfrm>
            <a:custGeom>
              <a:avLst/>
              <a:gdLst/>
              <a:ahLst/>
              <a:cxnLst/>
              <a:rect l="l" t="t" r="r" b="b"/>
              <a:pathLst>
                <a:path w="533" h="222" extrusionOk="0">
                  <a:moveTo>
                    <a:pt x="25" y="165"/>
                  </a:moveTo>
                  <a:cubicBezTo>
                    <a:pt x="158" y="165"/>
                    <a:pt x="158" y="165"/>
                    <a:pt x="158" y="165"/>
                  </a:cubicBezTo>
                  <a:cubicBezTo>
                    <a:pt x="158" y="108"/>
                    <a:pt x="158" y="108"/>
                    <a:pt x="158" y="108"/>
                  </a:cubicBezTo>
                  <a:cubicBezTo>
                    <a:pt x="158" y="94"/>
                    <a:pt x="170" y="83"/>
                    <a:pt x="184" y="83"/>
                  </a:cubicBezTo>
                  <a:cubicBezTo>
                    <a:pt x="317" y="83"/>
                    <a:pt x="317" y="83"/>
                    <a:pt x="317" y="83"/>
                  </a:cubicBezTo>
                  <a:cubicBezTo>
                    <a:pt x="317" y="25"/>
                    <a:pt x="317" y="25"/>
                    <a:pt x="317" y="25"/>
                  </a:cubicBezTo>
                  <a:cubicBezTo>
                    <a:pt x="317" y="11"/>
                    <a:pt x="329" y="0"/>
                    <a:pt x="343" y="0"/>
                  </a:cubicBezTo>
                  <a:cubicBezTo>
                    <a:pt x="533" y="0"/>
                    <a:pt x="533" y="0"/>
                    <a:pt x="533" y="0"/>
                  </a:cubicBezTo>
                  <a:cubicBezTo>
                    <a:pt x="533" y="32"/>
                    <a:pt x="533" y="32"/>
                    <a:pt x="533" y="32"/>
                  </a:cubicBezTo>
                  <a:cubicBezTo>
                    <a:pt x="533" y="46"/>
                    <a:pt x="522" y="57"/>
                    <a:pt x="508" y="57"/>
                  </a:cubicBezTo>
                  <a:cubicBezTo>
                    <a:pt x="375" y="57"/>
                    <a:pt x="375" y="57"/>
                    <a:pt x="375" y="57"/>
                  </a:cubicBezTo>
                  <a:cubicBezTo>
                    <a:pt x="375" y="114"/>
                    <a:pt x="375" y="114"/>
                    <a:pt x="375" y="114"/>
                  </a:cubicBezTo>
                  <a:cubicBezTo>
                    <a:pt x="375" y="128"/>
                    <a:pt x="363" y="140"/>
                    <a:pt x="349" y="140"/>
                  </a:cubicBezTo>
                  <a:cubicBezTo>
                    <a:pt x="216" y="140"/>
                    <a:pt x="216" y="140"/>
                    <a:pt x="216" y="140"/>
                  </a:cubicBezTo>
                  <a:cubicBezTo>
                    <a:pt x="216" y="197"/>
                    <a:pt x="216" y="197"/>
                    <a:pt x="216" y="197"/>
                  </a:cubicBezTo>
                  <a:cubicBezTo>
                    <a:pt x="216" y="211"/>
                    <a:pt x="204" y="222"/>
                    <a:pt x="190" y="222"/>
                  </a:cubicBezTo>
                  <a:cubicBezTo>
                    <a:pt x="0" y="222"/>
                    <a:pt x="0" y="222"/>
                    <a:pt x="0" y="222"/>
                  </a:cubicBezTo>
                  <a:cubicBezTo>
                    <a:pt x="0" y="191"/>
                    <a:pt x="0" y="191"/>
                    <a:pt x="0" y="191"/>
                  </a:cubicBezTo>
                  <a:cubicBezTo>
                    <a:pt x="0" y="177"/>
                    <a:pt x="11" y="165"/>
                    <a:pt x="25" y="16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60950" rIns="121900" bIns="609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3"/>
            <p:cNvSpPr/>
            <p:nvPr/>
          </p:nvSpPr>
          <p:spPr>
            <a:xfrm>
              <a:off x="5042691" y="2273920"/>
              <a:ext cx="529214" cy="655758"/>
            </a:xfrm>
            <a:custGeom>
              <a:avLst/>
              <a:gdLst/>
              <a:ahLst/>
              <a:cxnLst/>
              <a:rect l="l" t="t" r="r" b="b"/>
              <a:pathLst>
                <a:path w="612" h="759" extrusionOk="0">
                  <a:moveTo>
                    <a:pt x="28" y="504"/>
                  </a:moveTo>
                  <a:cubicBezTo>
                    <a:pt x="148" y="514"/>
                    <a:pt x="148" y="514"/>
                    <a:pt x="148" y="514"/>
                  </a:cubicBezTo>
                  <a:cubicBezTo>
                    <a:pt x="164" y="516"/>
                    <a:pt x="177" y="504"/>
                    <a:pt x="179" y="488"/>
                  </a:cubicBezTo>
                  <a:cubicBezTo>
                    <a:pt x="184" y="423"/>
                    <a:pt x="184" y="423"/>
                    <a:pt x="184" y="423"/>
                  </a:cubicBezTo>
                  <a:cubicBezTo>
                    <a:pt x="186" y="407"/>
                    <a:pt x="174" y="393"/>
                    <a:pt x="158" y="392"/>
                  </a:cubicBezTo>
                  <a:cubicBezTo>
                    <a:pt x="38" y="381"/>
                    <a:pt x="38" y="381"/>
                    <a:pt x="38" y="381"/>
                  </a:cubicBezTo>
                  <a:cubicBezTo>
                    <a:pt x="23" y="380"/>
                    <a:pt x="9" y="392"/>
                    <a:pt x="7" y="407"/>
                  </a:cubicBezTo>
                  <a:cubicBezTo>
                    <a:pt x="2" y="473"/>
                    <a:pt x="2" y="473"/>
                    <a:pt x="2" y="473"/>
                  </a:cubicBezTo>
                  <a:cubicBezTo>
                    <a:pt x="0" y="489"/>
                    <a:pt x="12" y="503"/>
                    <a:pt x="28" y="504"/>
                  </a:cubicBezTo>
                  <a:close/>
                  <a:moveTo>
                    <a:pt x="157" y="669"/>
                  </a:moveTo>
                  <a:cubicBezTo>
                    <a:pt x="220" y="595"/>
                    <a:pt x="230" y="592"/>
                    <a:pt x="254" y="487"/>
                  </a:cubicBezTo>
                  <a:cubicBezTo>
                    <a:pt x="280" y="496"/>
                    <a:pt x="307" y="504"/>
                    <a:pt x="334" y="512"/>
                  </a:cubicBezTo>
                  <a:cubicBezTo>
                    <a:pt x="337" y="513"/>
                    <a:pt x="339" y="514"/>
                    <a:pt x="342" y="515"/>
                  </a:cubicBezTo>
                  <a:cubicBezTo>
                    <a:pt x="303" y="633"/>
                    <a:pt x="296" y="637"/>
                    <a:pt x="216" y="722"/>
                  </a:cubicBezTo>
                  <a:cubicBezTo>
                    <a:pt x="180" y="759"/>
                    <a:pt x="122" y="709"/>
                    <a:pt x="157" y="669"/>
                  </a:cubicBezTo>
                  <a:close/>
                  <a:moveTo>
                    <a:pt x="379" y="7"/>
                  </a:moveTo>
                  <a:cubicBezTo>
                    <a:pt x="413" y="15"/>
                    <a:pt x="434" y="49"/>
                    <a:pt x="426" y="84"/>
                  </a:cubicBezTo>
                  <a:cubicBezTo>
                    <a:pt x="419" y="120"/>
                    <a:pt x="383" y="157"/>
                    <a:pt x="349" y="150"/>
                  </a:cubicBezTo>
                  <a:cubicBezTo>
                    <a:pt x="315" y="143"/>
                    <a:pt x="297" y="94"/>
                    <a:pt x="304" y="59"/>
                  </a:cubicBezTo>
                  <a:cubicBezTo>
                    <a:pt x="312" y="23"/>
                    <a:pt x="345" y="0"/>
                    <a:pt x="379" y="7"/>
                  </a:cubicBezTo>
                  <a:close/>
                  <a:moveTo>
                    <a:pt x="371" y="183"/>
                  </a:moveTo>
                  <a:cubicBezTo>
                    <a:pt x="378" y="185"/>
                    <a:pt x="393" y="190"/>
                    <a:pt x="403" y="199"/>
                  </a:cubicBezTo>
                  <a:cubicBezTo>
                    <a:pt x="494" y="286"/>
                    <a:pt x="474" y="282"/>
                    <a:pt x="574" y="278"/>
                  </a:cubicBezTo>
                  <a:cubicBezTo>
                    <a:pt x="612" y="277"/>
                    <a:pt x="611" y="338"/>
                    <a:pt x="579" y="341"/>
                  </a:cubicBezTo>
                  <a:cubicBezTo>
                    <a:pt x="477" y="350"/>
                    <a:pt x="470" y="358"/>
                    <a:pt x="398" y="296"/>
                  </a:cubicBezTo>
                  <a:cubicBezTo>
                    <a:pt x="381" y="385"/>
                    <a:pt x="381" y="385"/>
                    <a:pt x="381" y="385"/>
                  </a:cubicBezTo>
                  <a:cubicBezTo>
                    <a:pt x="380" y="392"/>
                    <a:pt x="383" y="399"/>
                    <a:pt x="390" y="402"/>
                  </a:cubicBezTo>
                  <a:cubicBezTo>
                    <a:pt x="494" y="448"/>
                    <a:pt x="515" y="448"/>
                    <a:pt x="561" y="593"/>
                  </a:cubicBezTo>
                  <a:cubicBezTo>
                    <a:pt x="578" y="638"/>
                    <a:pt x="510" y="668"/>
                    <a:pt x="489" y="626"/>
                  </a:cubicBezTo>
                  <a:cubicBezTo>
                    <a:pt x="417" y="484"/>
                    <a:pt x="405" y="506"/>
                    <a:pt x="233" y="447"/>
                  </a:cubicBezTo>
                  <a:cubicBezTo>
                    <a:pt x="211" y="435"/>
                    <a:pt x="203" y="416"/>
                    <a:pt x="203" y="392"/>
                  </a:cubicBezTo>
                  <a:cubicBezTo>
                    <a:pt x="231" y="239"/>
                    <a:pt x="231" y="239"/>
                    <a:pt x="231" y="239"/>
                  </a:cubicBezTo>
                  <a:cubicBezTo>
                    <a:pt x="164" y="260"/>
                    <a:pt x="171" y="259"/>
                    <a:pt x="157" y="344"/>
                  </a:cubicBezTo>
                  <a:cubicBezTo>
                    <a:pt x="151" y="376"/>
                    <a:pt x="91" y="372"/>
                    <a:pt x="95" y="332"/>
                  </a:cubicBezTo>
                  <a:cubicBezTo>
                    <a:pt x="107" y="207"/>
                    <a:pt x="126" y="199"/>
                    <a:pt x="247" y="155"/>
                  </a:cubicBezTo>
                  <a:cubicBezTo>
                    <a:pt x="264" y="149"/>
                    <a:pt x="304" y="160"/>
                    <a:pt x="313" y="163"/>
                  </a:cubicBezTo>
                  <a:cubicBezTo>
                    <a:pt x="349" y="227"/>
                    <a:pt x="349" y="227"/>
                    <a:pt x="349" y="227"/>
                  </a:cubicBezTo>
                  <a:cubicBezTo>
                    <a:pt x="371" y="183"/>
                    <a:pt x="371" y="183"/>
                    <a:pt x="371" y="183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60950" rIns="121900" bIns="609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"/>
          <p:cNvSpPr/>
          <p:nvPr/>
        </p:nvSpPr>
        <p:spPr>
          <a:xfrm>
            <a:off x="0" y="0"/>
            <a:ext cx="3528600" cy="461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     Research Background</a:t>
            </a:r>
            <a:endParaRPr sz="150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42" name="Google Shape;142;p4"/>
          <p:cNvSpPr txBox="1"/>
          <p:nvPr/>
        </p:nvSpPr>
        <p:spPr>
          <a:xfrm>
            <a:off x="1392388" y="1281888"/>
            <a:ext cx="4156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rPr>
              <a:t>International Development</a:t>
            </a:r>
            <a:endParaRPr sz="2800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43" name="Google Shape;143;p4"/>
          <p:cNvSpPr txBox="1"/>
          <p:nvPr/>
        </p:nvSpPr>
        <p:spPr>
          <a:xfrm>
            <a:off x="6878100" y="1281900"/>
            <a:ext cx="45951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rPr>
              <a:t>Foundational Approaches</a:t>
            </a:r>
            <a:endParaRPr sz="2800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44" name="Google Shape;144;p4"/>
          <p:cNvSpPr txBox="1"/>
          <p:nvPr/>
        </p:nvSpPr>
        <p:spPr>
          <a:xfrm>
            <a:off x="6759300" y="1983625"/>
            <a:ext cx="4713900" cy="358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300" b="1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UN</a:t>
            </a: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’s Sustainable Development Goals (SDGs)</a:t>
            </a:r>
            <a:b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 SDG 5 – Gender Equality</a:t>
            </a:r>
            <a:b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 SDG 10 – Reduced inequality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●"/>
            </a:pPr>
            <a:r>
              <a:rPr lang="en-US" sz="2300" b="1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OECD</a:t>
            </a: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Gender equality in public life (2015)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●"/>
            </a:pPr>
            <a:r>
              <a:rPr lang="en-US" sz="2300" b="1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Feminism</a:t>
            </a: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Gender Mainstreaming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5" name="Google Shape;145;p4"/>
          <p:cNvPicPr preferRelativeResize="0"/>
          <p:nvPr/>
        </p:nvPicPr>
        <p:blipFill rotWithShape="1">
          <a:blip r:embed="rId3">
            <a:alphaModFix/>
          </a:blip>
          <a:srcRect r="27896"/>
          <a:stretch/>
        </p:blipFill>
        <p:spPr>
          <a:xfrm>
            <a:off x="519862" y="2105200"/>
            <a:ext cx="5901825" cy="3197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g3acbed7db4e_7_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19300"/>
            <a:ext cx="11887201" cy="5021991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acbed7db4e_7_3"/>
          <p:cNvSpPr/>
          <p:nvPr/>
        </p:nvSpPr>
        <p:spPr>
          <a:xfrm>
            <a:off x="0" y="0"/>
            <a:ext cx="3528600" cy="461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     Research Background</a:t>
            </a:r>
            <a:endParaRPr sz="150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94C58F-2BFF-12E3-9921-E0A4DCA5EC7C}"/>
              </a:ext>
            </a:extLst>
          </p:cNvPr>
          <p:cNvSpPr txBox="1"/>
          <p:nvPr/>
        </p:nvSpPr>
        <p:spPr>
          <a:xfrm>
            <a:off x="1075162" y="609644"/>
            <a:ext cx="1004549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dirty="0">
                <a:latin typeface="Impact"/>
              </a:rPr>
              <a:t>History of Australian Gender-responsive Budgeting</a:t>
            </a:r>
            <a:endParaRPr lang="en-US" sz="1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" name="Google Shape;157;p7"/>
          <p:cNvGrpSpPr/>
          <p:nvPr/>
        </p:nvGrpSpPr>
        <p:grpSpPr>
          <a:xfrm>
            <a:off x="1527270" y="1666124"/>
            <a:ext cx="2384573" cy="2384573"/>
            <a:chOff x="4240335" y="3008435"/>
            <a:chExt cx="3711332" cy="3711332"/>
          </a:xfrm>
        </p:grpSpPr>
        <p:sp>
          <p:nvSpPr>
            <p:cNvPr id="158" name="Google Shape;158;p7"/>
            <p:cNvSpPr/>
            <p:nvPr/>
          </p:nvSpPr>
          <p:spPr>
            <a:xfrm>
              <a:off x="4240335" y="3008435"/>
              <a:ext cx="3711332" cy="3711332"/>
            </a:xfrm>
            <a:prstGeom prst="ellipse">
              <a:avLst/>
            </a:prstGeom>
            <a:gradFill>
              <a:gsLst>
                <a:gs pos="0">
                  <a:schemeClr val="lt1"/>
                </a:gs>
                <a:gs pos="100000">
                  <a:srgbClr val="BFBFBF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59" name="Google Shape;159;p7"/>
            <p:cNvGrpSpPr/>
            <p:nvPr/>
          </p:nvGrpSpPr>
          <p:grpSpPr>
            <a:xfrm>
              <a:off x="4710169" y="3478269"/>
              <a:ext cx="2771663" cy="2771663"/>
              <a:chOff x="2193191" y="1899415"/>
              <a:chExt cx="2421376" cy="2421376"/>
            </a:xfrm>
          </p:grpSpPr>
          <p:sp>
            <p:nvSpPr>
              <p:cNvPr id="160" name="Google Shape;160;p7"/>
              <p:cNvSpPr/>
              <p:nvPr/>
            </p:nvSpPr>
            <p:spPr>
              <a:xfrm>
                <a:off x="2193191" y="1899415"/>
                <a:ext cx="2421376" cy="2421376"/>
              </a:xfrm>
              <a:prstGeom prst="ellipse">
                <a:avLst/>
              </a:prstGeom>
              <a:solidFill>
                <a:schemeClr val="accent4"/>
              </a:solidFill>
              <a:ln w="31750" cap="flat" cmpd="sng">
                <a:solidFill>
                  <a:srgbClr val="BFBFB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5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" name="Google Shape;161;p7"/>
              <p:cNvSpPr/>
              <p:nvPr/>
            </p:nvSpPr>
            <p:spPr>
              <a:xfrm>
                <a:off x="2345502" y="2051726"/>
                <a:ext cx="2116756" cy="2116756"/>
              </a:xfrm>
              <a:prstGeom prst="ellipse">
                <a:avLst/>
              </a:prstGeom>
              <a:solidFill>
                <a:srgbClr val="F2F2F2"/>
              </a:solidFill>
              <a:ln>
                <a:noFill/>
              </a:ln>
              <a:effectLst>
                <a:outerShdw blurRad="152400" dist="63500" dir="2700000" algn="tl" rotWithShape="0">
                  <a:srgbClr val="568C11">
                    <a:alpha val="63921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5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62" name="Google Shape;162;p7"/>
          <p:cNvSpPr/>
          <p:nvPr/>
        </p:nvSpPr>
        <p:spPr>
          <a:xfrm>
            <a:off x="600" y="-348344"/>
            <a:ext cx="2718956" cy="7417183"/>
          </a:xfrm>
          <a:custGeom>
            <a:avLst/>
            <a:gdLst/>
            <a:ahLst/>
            <a:cxnLst/>
            <a:rect l="l" t="t" r="r" b="b"/>
            <a:pathLst>
              <a:path w="2837789" h="8001905" extrusionOk="0">
                <a:moveTo>
                  <a:pt x="0" y="0"/>
                </a:moveTo>
                <a:lnTo>
                  <a:pt x="2837788" y="0"/>
                </a:lnTo>
                <a:lnTo>
                  <a:pt x="2837788" y="1968500"/>
                </a:lnTo>
                <a:lnTo>
                  <a:pt x="2837789" y="1968500"/>
                </a:lnTo>
                <a:lnTo>
                  <a:pt x="2837789" y="2363879"/>
                </a:lnTo>
                <a:lnTo>
                  <a:pt x="2618085" y="2386026"/>
                </a:lnTo>
                <a:cubicBezTo>
                  <a:pt x="2121320" y="2487680"/>
                  <a:pt x="1747634" y="2927218"/>
                  <a:pt x="1747634" y="3454034"/>
                </a:cubicBezTo>
                <a:cubicBezTo>
                  <a:pt x="1747634" y="3980852"/>
                  <a:pt x="2121320" y="4420389"/>
                  <a:pt x="2618085" y="4522042"/>
                </a:cubicBezTo>
                <a:lnTo>
                  <a:pt x="2837789" y="4544190"/>
                </a:lnTo>
                <a:lnTo>
                  <a:pt x="2837789" y="6858000"/>
                </a:lnTo>
                <a:lnTo>
                  <a:pt x="2837788" y="6858000"/>
                </a:lnTo>
                <a:lnTo>
                  <a:pt x="2837788" y="8001905"/>
                </a:lnTo>
                <a:lnTo>
                  <a:pt x="0" y="8001905"/>
                </a:lnTo>
                <a:lnTo>
                  <a:pt x="0" y="6858000"/>
                </a:lnTo>
                <a:lnTo>
                  <a:pt x="0" y="6376305"/>
                </a:lnTo>
                <a:lnTo>
                  <a:pt x="0" y="2133600"/>
                </a:lnTo>
                <a:lnTo>
                  <a:pt x="0" y="196850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5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4002060" y="4379076"/>
            <a:ext cx="6838231" cy="42891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BFBFBF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5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 txBox="1"/>
          <p:nvPr/>
        </p:nvSpPr>
        <p:spPr>
          <a:xfrm>
            <a:off x="5231300" y="4601675"/>
            <a:ext cx="3093600" cy="5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65">
                <a:solidFill>
                  <a:srgbClr val="3F3F3F"/>
                </a:solidFill>
                <a:latin typeface="Impact"/>
                <a:ea typeface="Impact"/>
                <a:cs typeface="Impact"/>
                <a:sym typeface="Impact"/>
              </a:rPr>
              <a:t>Research Design</a:t>
            </a:r>
            <a:endParaRPr>
              <a:latin typeface="Impact"/>
              <a:ea typeface="Impact"/>
              <a:cs typeface="Impact"/>
              <a:sym typeface="Impact"/>
            </a:endParaRPr>
          </a:p>
        </p:txBody>
      </p:sp>
      <p:grpSp>
        <p:nvGrpSpPr>
          <p:cNvPr id="165" name="Google Shape;165;p7"/>
          <p:cNvGrpSpPr/>
          <p:nvPr/>
        </p:nvGrpSpPr>
        <p:grpSpPr>
          <a:xfrm>
            <a:off x="2383327" y="2490049"/>
            <a:ext cx="702937" cy="707692"/>
            <a:chOff x="5042691" y="2273920"/>
            <a:chExt cx="702937" cy="707692"/>
          </a:xfrm>
        </p:grpSpPr>
        <p:sp>
          <p:nvSpPr>
            <p:cNvPr id="166" name="Google Shape;166;p7"/>
            <p:cNvSpPr/>
            <p:nvPr/>
          </p:nvSpPr>
          <p:spPr>
            <a:xfrm>
              <a:off x="5284806" y="2789968"/>
              <a:ext cx="460822" cy="191644"/>
            </a:xfrm>
            <a:custGeom>
              <a:avLst/>
              <a:gdLst/>
              <a:ahLst/>
              <a:cxnLst/>
              <a:rect l="l" t="t" r="r" b="b"/>
              <a:pathLst>
                <a:path w="533" h="222" extrusionOk="0">
                  <a:moveTo>
                    <a:pt x="25" y="165"/>
                  </a:moveTo>
                  <a:cubicBezTo>
                    <a:pt x="158" y="165"/>
                    <a:pt x="158" y="165"/>
                    <a:pt x="158" y="165"/>
                  </a:cubicBezTo>
                  <a:cubicBezTo>
                    <a:pt x="158" y="108"/>
                    <a:pt x="158" y="108"/>
                    <a:pt x="158" y="108"/>
                  </a:cubicBezTo>
                  <a:cubicBezTo>
                    <a:pt x="158" y="94"/>
                    <a:pt x="170" y="83"/>
                    <a:pt x="184" y="83"/>
                  </a:cubicBezTo>
                  <a:cubicBezTo>
                    <a:pt x="317" y="83"/>
                    <a:pt x="317" y="83"/>
                    <a:pt x="317" y="83"/>
                  </a:cubicBezTo>
                  <a:cubicBezTo>
                    <a:pt x="317" y="25"/>
                    <a:pt x="317" y="25"/>
                    <a:pt x="317" y="25"/>
                  </a:cubicBezTo>
                  <a:cubicBezTo>
                    <a:pt x="317" y="11"/>
                    <a:pt x="329" y="0"/>
                    <a:pt x="343" y="0"/>
                  </a:cubicBezTo>
                  <a:cubicBezTo>
                    <a:pt x="533" y="0"/>
                    <a:pt x="533" y="0"/>
                    <a:pt x="533" y="0"/>
                  </a:cubicBezTo>
                  <a:cubicBezTo>
                    <a:pt x="533" y="32"/>
                    <a:pt x="533" y="32"/>
                    <a:pt x="533" y="32"/>
                  </a:cubicBezTo>
                  <a:cubicBezTo>
                    <a:pt x="533" y="46"/>
                    <a:pt x="522" y="57"/>
                    <a:pt x="508" y="57"/>
                  </a:cubicBezTo>
                  <a:cubicBezTo>
                    <a:pt x="375" y="57"/>
                    <a:pt x="375" y="57"/>
                    <a:pt x="375" y="57"/>
                  </a:cubicBezTo>
                  <a:cubicBezTo>
                    <a:pt x="375" y="114"/>
                    <a:pt x="375" y="114"/>
                    <a:pt x="375" y="114"/>
                  </a:cubicBezTo>
                  <a:cubicBezTo>
                    <a:pt x="375" y="128"/>
                    <a:pt x="363" y="140"/>
                    <a:pt x="349" y="140"/>
                  </a:cubicBezTo>
                  <a:cubicBezTo>
                    <a:pt x="216" y="140"/>
                    <a:pt x="216" y="140"/>
                    <a:pt x="216" y="140"/>
                  </a:cubicBezTo>
                  <a:cubicBezTo>
                    <a:pt x="216" y="197"/>
                    <a:pt x="216" y="197"/>
                    <a:pt x="216" y="197"/>
                  </a:cubicBezTo>
                  <a:cubicBezTo>
                    <a:pt x="216" y="211"/>
                    <a:pt x="204" y="222"/>
                    <a:pt x="190" y="222"/>
                  </a:cubicBezTo>
                  <a:cubicBezTo>
                    <a:pt x="0" y="222"/>
                    <a:pt x="0" y="222"/>
                    <a:pt x="0" y="222"/>
                  </a:cubicBezTo>
                  <a:cubicBezTo>
                    <a:pt x="0" y="191"/>
                    <a:pt x="0" y="191"/>
                    <a:pt x="0" y="191"/>
                  </a:cubicBezTo>
                  <a:cubicBezTo>
                    <a:pt x="0" y="177"/>
                    <a:pt x="11" y="165"/>
                    <a:pt x="25" y="16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60950" rIns="121900" bIns="609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7"/>
            <p:cNvSpPr/>
            <p:nvPr/>
          </p:nvSpPr>
          <p:spPr>
            <a:xfrm>
              <a:off x="5042691" y="2273920"/>
              <a:ext cx="529214" cy="655758"/>
            </a:xfrm>
            <a:custGeom>
              <a:avLst/>
              <a:gdLst/>
              <a:ahLst/>
              <a:cxnLst/>
              <a:rect l="l" t="t" r="r" b="b"/>
              <a:pathLst>
                <a:path w="612" h="759" extrusionOk="0">
                  <a:moveTo>
                    <a:pt x="28" y="504"/>
                  </a:moveTo>
                  <a:cubicBezTo>
                    <a:pt x="148" y="514"/>
                    <a:pt x="148" y="514"/>
                    <a:pt x="148" y="514"/>
                  </a:cubicBezTo>
                  <a:cubicBezTo>
                    <a:pt x="164" y="516"/>
                    <a:pt x="177" y="504"/>
                    <a:pt x="179" y="488"/>
                  </a:cubicBezTo>
                  <a:cubicBezTo>
                    <a:pt x="184" y="423"/>
                    <a:pt x="184" y="423"/>
                    <a:pt x="184" y="423"/>
                  </a:cubicBezTo>
                  <a:cubicBezTo>
                    <a:pt x="186" y="407"/>
                    <a:pt x="174" y="393"/>
                    <a:pt x="158" y="392"/>
                  </a:cubicBezTo>
                  <a:cubicBezTo>
                    <a:pt x="38" y="381"/>
                    <a:pt x="38" y="381"/>
                    <a:pt x="38" y="381"/>
                  </a:cubicBezTo>
                  <a:cubicBezTo>
                    <a:pt x="23" y="380"/>
                    <a:pt x="9" y="392"/>
                    <a:pt x="7" y="407"/>
                  </a:cubicBezTo>
                  <a:cubicBezTo>
                    <a:pt x="2" y="473"/>
                    <a:pt x="2" y="473"/>
                    <a:pt x="2" y="473"/>
                  </a:cubicBezTo>
                  <a:cubicBezTo>
                    <a:pt x="0" y="489"/>
                    <a:pt x="12" y="503"/>
                    <a:pt x="28" y="504"/>
                  </a:cubicBezTo>
                  <a:close/>
                  <a:moveTo>
                    <a:pt x="157" y="669"/>
                  </a:moveTo>
                  <a:cubicBezTo>
                    <a:pt x="220" y="595"/>
                    <a:pt x="230" y="592"/>
                    <a:pt x="254" y="487"/>
                  </a:cubicBezTo>
                  <a:cubicBezTo>
                    <a:pt x="280" y="496"/>
                    <a:pt x="307" y="504"/>
                    <a:pt x="334" y="512"/>
                  </a:cubicBezTo>
                  <a:cubicBezTo>
                    <a:pt x="337" y="513"/>
                    <a:pt x="339" y="514"/>
                    <a:pt x="342" y="515"/>
                  </a:cubicBezTo>
                  <a:cubicBezTo>
                    <a:pt x="303" y="633"/>
                    <a:pt x="296" y="637"/>
                    <a:pt x="216" y="722"/>
                  </a:cubicBezTo>
                  <a:cubicBezTo>
                    <a:pt x="180" y="759"/>
                    <a:pt x="122" y="709"/>
                    <a:pt x="157" y="669"/>
                  </a:cubicBezTo>
                  <a:close/>
                  <a:moveTo>
                    <a:pt x="379" y="7"/>
                  </a:moveTo>
                  <a:cubicBezTo>
                    <a:pt x="413" y="15"/>
                    <a:pt x="434" y="49"/>
                    <a:pt x="426" y="84"/>
                  </a:cubicBezTo>
                  <a:cubicBezTo>
                    <a:pt x="419" y="120"/>
                    <a:pt x="383" y="157"/>
                    <a:pt x="349" y="150"/>
                  </a:cubicBezTo>
                  <a:cubicBezTo>
                    <a:pt x="315" y="143"/>
                    <a:pt x="297" y="94"/>
                    <a:pt x="304" y="59"/>
                  </a:cubicBezTo>
                  <a:cubicBezTo>
                    <a:pt x="312" y="23"/>
                    <a:pt x="345" y="0"/>
                    <a:pt x="379" y="7"/>
                  </a:cubicBezTo>
                  <a:close/>
                  <a:moveTo>
                    <a:pt x="371" y="183"/>
                  </a:moveTo>
                  <a:cubicBezTo>
                    <a:pt x="378" y="185"/>
                    <a:pt x="393" y="190"/>
                    <a:pt x="403" y="199"/>
                  </a:cubicBezTo>
                  <a:cubicBezTo>
                    <a:pt x="494" y="286"/>
                    <a:pt x="474" y="282"/>
                    <a:pt x="574" y="278"/>
                  </a:cubicBezTo>
                  <a:cubicBezTo>
                    <a:pt x="612" y="277"/>
                    <a:pt x="611" y="338"/>
                    <a:pt x="579" y="341"/>
                  </a:cubicBezTo>
                  <a:cubicBezTo>
                    <a:pt x="477" y="350"/>
                    <a:pt x="470" y="358"/>
                    <a:pt x="398" y="296"/>
                  </a:cubicBezTo>
                  <a:cubicBezTo>
                    <a:pt x="381" y="385"/>
                    <a:pt x="381" y="385"/>
                    <a:pt x="381" y="385"/>
                  </a:cubicBezTo>
                  <a:cubicBezTo>
                    <a:pt x="380" y="392"/>
                    <a:pt x="383" y="399"/>
                    <a:pt x="390" y="402"/>
                  </a:cubicBezTo>
                  <a:cubicBezTo>
                    <a:pt x="494" y="448"/>
                    <a:pt x="515" y="448"/>
                    <a:pt x="561" y="593"/>
                  </a:cubicBezTo>
                  <a:cubicBezTo>
                    <a:pt x="578" y="638"/>
                    <a:pt x="510" y="668"/>
                    <a:pt x="489" y="626"/>
                  </a:cubicBezTo>
                  <a:cubicBezTo>
                    <a:pt x="417" y="484"/>
                    <a:pt x="405" y="506"/>
                    <a:pt x="233" y="447"/>
                  </a:cubicBezTo>
                  <a:cubicBezTo>
                    <a:pt x="211" y="435"/>
                    <a:pt x="203" y="416"/>
                    <a:pt x="203" y="392"/>
                  </a:cubicBezTo>
                  <a:cubicBezTo>
                    <a:pt x="231" y="239"/>
                    <a:pt x="231" y="239"/>
                    <a:pt x="231" y="239"/>
                  </a:cubicBezTo>
                  <a:cubicBezTo>
                    <a:pt x="164" y="260"/>
                    <a:pt x="171" y="259"/>
                    <a:pt x="157" y="344"/>
                  </a:cubicBezTo>
                  <a:cubicBezTo>
                    <a:pt x="151" y="376"/>
                    <a:pt x="91" y="372"/>
                    <a:pt x="95" y="332"/>
                  </a:cubicBezTo>
                  <a:cubicBezTo>
                    <a:pt x="107" y="207"/>
                    <a:pt x="126" y="199"/>
                    <a:pt x="247" y="155"/>
                  </a:cubicBezTo>
                  <a:cubicBezTo>
                    <a:pt x="264" y="149"/>
                    <a:pt x="304" y="160"/>
                    <a:pt x="313" y="163"/>
                  </a:cubicBezTo>
                  <a:cubicBezTo>
                    <a:pt x="349" y="227"/>
                    <a:pt x="349" y="227"/>
                    <a:pt x="349" y="227"/>
                  </a:cubicBezTo>
                  <a:cubicBezTo>
                    <a:pt x="371" y="183"/>
                    <a:pt x="371" y="183"/>
                    <a:pt x="371" y="18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60950" rIns="121900" bIns="609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8" name="Google Shape;168;p7"/>
          <p:cNvSpPr txBox="1"/>
          <p:nvPr/>
        </p:nvSpPr>
        <p:spPr>
          <a:xfrm>
            <a:off x="4375562" y="2112327"/>
            <a:ext cx="48051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>
                <a:solidFill>
                  <a:schemeClr val="accent4"/>
                </a:solidFill>
                <a:latin typeface="Impact"/>
                <a:ea typeface="Impact"/>
                <a:cs typeface="Impact"/>
                <a:sym typeface="Impact"/>
              </a:rPr>
              <a:t>PART   02</a:t>
            </a:r>
            <a:endParaRPr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"/>
          <p:cNvSpPr/>
          <p:nvPr/>
        </p:nvSpPr>
        <p:spPr>
          <a:xfrm>
            <a:off x="685275" y="1906225"/>
            <a:ext cx="11163900" cy="42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RQ 1.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How have policy targets, program areas, and thematic priorities in the Women’s Budget Statements evolved between 1984 and 2025? 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RQ 2.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the relationship between changes in the Women’s Budget Statements’ topic focus and changes in the GII &amp; HDI in Australia? 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RQ 3.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what extent do shifts in the content and focus of the Women’s Budget Statements correspond with broader trends in gender equity, as measured by international indices?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0" y="0"/>
            <a:ext cx="3528600" cy="461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       Research Design</a:t>
            </a:r>
            <a:endParaRPr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75" name="Google Shape;175;p6"/>
          <p:cNvSpPr txBox="1"/>
          <p:nvPr/>
        </p:nvSpPr>
        <p:spPr>
          <a:xfrm>
            <a:off x="4403475" y="867225"/>
            <a:ext cx="3727500" cy="66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rPr>
              <a:t>Research Questions</a:t>
            </a:r>
            <a:endParaRPr sz="3200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  <p:transition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0" name="Google Shape;180;p8"/>
          <p:cNvGrpSpPr/>
          <p:nvPr/>
        </p:nvGrpSpPr>
        <p:grpSpPr>
          <a:xfrm>
            <a:off x="730100" y="1929970"/>
            <a:ext cx="4930387" cy="2884435"/>
            <a:chOff x="935490" y="3976639"/>
            <a:chExt cx="2329500" cy="2174306"/>
          </a:xfrm>
        </p:grpSpPr>
        <p:sp>
          <p:nvSpPr>
            <p:cNvPr id="181" name="Google Shape;181;p8"/>
            <p:cNvSpPr txBox="1"/>
            <p:nvPr/>
          </p:nvSpPr>
          <p:spPr>
            <a:xfrm>
              <a:off x="945659" y="3976639"/>
              <a:ext cx="2309100" cy="39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>
                  <a:solidFill>
                    <a:srgbClr val="741B47"/>
                  </a:solidFill>
                  <a:latin typeface="Calibri"/>
                  <a:ea typeface="Calibri"/>
                  <a:cs typeface="Calibri"/>
                  <a:sym typeface="Calibri"/>
                </a:rPr>
                <a:t>Women’s Budget Statement</a:t>
              </a:r>
              <a:endParaRPr>
                <a:solidFill>
                  <a:srgbClr val="741B47"/>
                </a:solidFill>
              </a:endParaRPr>
            </a:p>
          </p:txBody>
        </p:sp>
        <p:sp>
          <p:nvSpPr>
            <p:cNvPr id="182" name="Google Shape;182;p8"/>
            <p:cNvSpPr/>
            <p:nvPr/>
          </p:nvSpPr>
          <p:spPr>
            <a:xfrm>
              <a:off x="935490" y="4633245"/>
              <a:ext cx="2329500" cy="151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457200" marR="0" lvl="0" indent="-36830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alibri"/>
                <a:buChar char="●"/>
              </a:pPr>
              <a:r>
                <a:rPr lang="en-US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Total period: 1984 to 2013 and 2021 to 2025</a:t>
              </a:r>
              <a:endParaRPr sz="2200"/>
            </a:p>
            <a:p>
              <a:pPr marL="457200" marR="0" lvl="0" indent="-36830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alibri"/>
                <a:buChar char="●"/>
              </a:pPr>
              <a:r>
                <a:rPr lang="en-US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Actual data: 32 Documents (Up to 300+ pages per document)</a:t>
              </a:r>
              <a:endParaRPr sz="2200"/>
            </a:p>
            <a:p>
              <a:pPr marL="457200" marR="0" lvl="0" indent="-368300" algn="l" rtl="0">
                <a:spcBef>
                  <a:spcPts val="0"/>
                </a:spcBef>
                <a:spcAft>
                  <a:spcPts val="0"/>
                </a:spcAft>
                <a:buSzPts val="2200"/>
                <a:buChar char="●"/>
              </a:pPr>
              <a:r>
                <a:rPr lang="en-US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Missing Data for 2004 &amp; 2007 </a:t>
              </a:r>
              <a:endParaRPr sz="2200"/>
            </a:p>
          </p:txBody>
        </p:sp>
      </p:grpSp>
      <p:grpSp>
        <p:nvGrpSpPr>
          <p:cNvPr id="183" name="Google Shape;183;p8"/>
          <p:cNvGrpSpPr/>
          <p:nvPr/>
        </p:nvGrpSpPr>
        <p:grpSpPr>
          <a:xfrm>
            <a:off x="6067825" y="1929969"/>
            <a:ext cx="5803949" cy="2929141"/>
            <a:chOff x="935498" y="4018663"/>
            <a:chExt cx="2329500" cy="1487931"/>
          </a:xfrm>
        </p:grpSpPr>
        <p:sp>
          <p:nvSpPr>
            <p:cNvPr id="184" name="Google Shape;184;p8"/>
            <p:cNvSpPr txBox="1"/>
            <p:nvPr/>
          </p:nvSpPr>
          <p:spPr>
            <a:xfrm>
              <a:off x="1295348" y="4018663"/>
              <a:ext cx="1609800" cy="26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4775" tIns="47375" rIns="94775" bIns="47375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2" b="1">
                  <a:solidFill>
                    <a:srgbClr val="0B5394"/>
                  </a:solidFill>
                  <a:latin typeface="Calibri"/>
                  <a:ea typeface="Calibri"/>
                  <a:cs typeface="Calibri"/>
                  <a:sym typeface="Calibri"/>
                </a:rPr>
                <a:t>International Indices</a:t>
              </a:r>
              <a:endParaRPr sz="2802"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" name="Google Shape;185;p8"/>
            <p:cNvSpPr/>
            <p:nvPr/>
          </p:nvSpPr>
          <p:spPr>
            <a:xfrm>
              <a:off x="935498" y="4425693"/>
              <a:ext cx="2329500" cy="108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4775" tIns="47375" rIns="94775" bIns="47375" anchor="t" anchorCtr="0">
              <a:spAutoFit/>
            </a:bodyPr>
            <a:lstStyle/>
            <a:p>
              <a:pPr marL="473908" marR="0" lvl="0" indent="-376654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alibri"/>
                <a:buChar char="●"/>
              </a:pPr>
              <a:r>
                <a:rPr lang="en-US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Gender Inequality Index (GII, 1990+)</a:t>
              </a:r>
              <a:endParaRPr sz="2200"/>
            </a:p>
            <a:p>
              <a:pPr marL="473908" marR="0" lvl="0" indent="-376654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alibri"/>
                <a:buChar char="●"/>
              </a:pPr>
              <a:r>
                <a:rPr lang="en-US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Human Development Index (HDI, 1990+)</a:t>
              </a:r>
              <a:endParaRPr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473908" marR="0" lvl="0" indent="-376654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alibri"/>
                <a:buChar char="●"/>
              </a:pPr>
              <a:r>
                <a:rPr lang="en-US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Social Institutions and Gender Index (SIGI, 2009+)</a:t>
              </a:r>
              <a:endParaRPr sz="2200"/>
            </a:p>
            <a:p>
              <a:pPr marL="473908" marR="0" lvl="0" indent="-376654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alibri"/>
                <a:buChar char="●"/>
              </a:pPr>
              <a:r>
                <a:rPr lang="en-US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SDG Gender Index (2013+)</a:t>
              </a:r>
              <a:endParaRPr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6" name="Google Shape;186;p8"/>
          <p:cNvSpPr/>
          <p:nvPr/>
        </p:nvSpPr>
        <p:spPr>
          <a:xfrm>
            <a:off x="0" y="0"/>
            <a:ext cx="3528600" cy="461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       Research Design</a:t>
            </a:r>
            <a:endParaRPr sz="150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87" name="Google Shape;187;p8"/>
          <p:cNvSpPr txBox="1"/>
          <p:nvPr/>
        </p:nvSpPr>
        <p:spPr>
          <a:xfrm>
            <a:off x="4247100" y="568300"/>
            <a:ext cx="3697800" cy="6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rPr>
              <a:t>Data Sources</a:t>
            </a:r>
            <a:endParaRPr sz="3400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" name="Google Shape;192;g3acbed7db4e_2_13"/>
          <p:cNvGrpSpPr/>
          <p:nvPr/>
        </p:nvGrpSpPr>
        <p:grpSpPr>
          <a:xfrm>
            <a:off x="380148" y="1334509"/>
            <a:ext cx="5548193" cy="4844408"/>
            <a:chOff x="935493" y="4185799"/>
            <a:chExt cx="2621400" cy="3586590"/>
          </a:xfrm>
        </p:grpSpPr>
        <p:sp>
          <p:nvSpPr>
            <p:cNvPr id="193" name="Google Shape;193;g3acbed7db4e_2_13"/>
            <p:cNvSpPr txBox="1"/>
            <p:nvPr/>
          </p:nvSpPr>
          <p:spPr>
            <a:xfrm>
              <a:off x="945736" y="4185799"/>
              <a:ext cx="2309100" cy="38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Gender Inequality Index (GII)</a:t>
              </a:r>
              <a:endParaRPr/>
            </a:p>
          </p:txBody>
        </p:sp>
        <p:sp>
          <p:nvSpPr>
            <p:cNvPr id="194" name="Google Shape;194;g3acbed7db4e_2_13"/>
            <p:cNvSpPr/>
            <p:nvPr/>
          </p:nvSpPr>
          <p:spPr>
            <a:xfrm>
              <a:off x="935493" y="4666789"/>
              <a:ext cx="2621400" cy="310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457200" lvl="0" indent="-3429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Char char="●"/>
              </a:pPr>
              <a:r>
                <a:rPr lang="en-US" sz="1800">
                  <a:solidFill>
                    <a:schemeClr val="dk1"/>
                  </a:solidFill>
                </a:rPr>
                <a:t>A composite index that measures the loss of human development due to gender inequality.</a:t>
              </a:r>
              <a:endParaRPr sz="1800">
                <a:solidFill>
                  <a:schemeClr val="dk1"/>
                </a:solidFill>
              </a:endParaRPr>
            </a:p>
            <a:p>
              <a:pPr marL="457200" lvl="0" indent="-3429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Char char="●"/>
              </a:pPr>
              <a:r>
                <a:rPr lang="en-US" sz="1800">
                  <a:solidFill>
                    <a:schemeClr val="dk1"/>
                  </a:solidFill>
                </a:rPr>
                <a:t>Three dimensions:</a:t>
              </a:r>
              <a:endParaRPr sz="1800">
                <a:solidFill>
                  <a:schemeClr val="dk1"/>
                </a:solidFill>
              </a:endParaRPr>
            </a:p>
            <a:p>
              <a:pPr marL="914400" lvl="1" indent="-3302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Char char="○"/>
              </a:pPr>
              <a:r>
                <a:rPr lang="en-US" sz="1600" b="1">
                  <a:solidFill>
                    <a:schemeClr val="dk1"/>
                  </a:solidFill>
                </a:rPr>
                <a:t>Reproductive health:</a:t>
              </a:r>
              <a:r>
                <a:rPr lang="en-US" sz="1600">
                  <a:solidFill>
                    <a:schemeClr val="dk1"/>
                  </a:solidFill>
                </a:rPr>
                <a:t> Maternal mortality ratio and adolescent birth rates.</a:t>
              </a:r>
              <a:endParaRPr sz="1600">
                <a:solidFill>
                  <a:schemeClr val="dk1"/>
                </a:solidFill>
              </a:endParaRPr>
            </a:p>
            <a:p>
              <a:pPr marL="914400" lvl="1" indent="-3302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Char char="○"/>
              </a:pPr>
              <a:r>
                <a:rPr lang="en-US" sz="1600" b="1">
                  <a:solidFill>
                    <a:schemeClr val="dk1"/>
                  </a:solidFill>
                </a:rPr>
                <a:t>Empowerment:</a:t>
              </a:r>
              <a:r>
                <a:rPr lang="en-US" sz="1600">
                  <a:solidFill>
                    <a:schemeClr val="dk1"/>
                  </a:solidFill>
                </a:rPr>
                <a:t> Percentage of seats held by women in parliament and education levels for women versus men.</a:t>
              </a:r>
              <a:endParaRPr sz="1600">
                <a:solidFill>
                  <a:schemeClr val="dk1"/>
                </a:solidFill>
              </a:endParaRPr>
            </a:p>
            <a:p>
              <a:pPr marL="914400" lvl="1" indent="-3302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Char char="○"/>
              </a:pPr>
              <a:r>
                <a:rPr lang="en-US" sz="1600" b="1">
                  <a:solidFill>
                    <a:schemeClr val="dk1"/>
                  </a:solidFill>
                </a:rPr>
                <a:t>Labor market participation:</a:t>
              </a:r>
              <a:r>
                <a:rPr lang="en-US" sz="1600">
                  <a:solidFill>
                    <a:schemeClr val="dk1"/>
                  </a:solidFill>
                </a:rPr>
                <a:t> Labor force participation rates for both sexes.</a:t>
              </a:r>
              <a:endParaRPr sz="1600">
                <a:solidFill>
                  <a:schemeClr val="dk1"/>
                </a:solidFill>
              </a:endParaRPr>
            </a:p>
            <a:p>
              <a:pPr marL="457200" lvl="0" indent="-3429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Char char="●"/>
              </a:pPr>
              <a:r>
                <a:rPr lang="en-US" sz="1800" b="1">
                  <a:solidFill>
                    <a:schemeClr val="dk1"/>
                  </a:solidFill>
                </a:rPr>
                <a:t>Score:</a:t>
              </a:r>
              <a:r>
                <a:rPr lang="en-US" sz="1800">
                  <a:solidFill>
                    <a:schemeClr val="dk1"/>
                  </a:solidFill>
                </a:rPr>
                <a:t> Ranks from 0 to 1, where 0 is perfect gender equality and 1 is the highest level of inequality. 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5" name="Google Shape;195;g3acbed7db4e_2_13"/>
          <p:cNvGrpSpPr/>
          <p:nvPr/>
        </p:nvGrpSpPr>
        <p:grpSpPr>
          <a:xfrm>
            <a:off x="6088794" y="1276179"/>
            <a:ext cx="5919260" cy="5252922"/>
            <a:chOff x="935498" y="4185801"/>
            <a:chExt cx="2329500" cy="3213189"/>
          </a:xfrm>
        </p:grpSpPr>
        <p:sp>
          <p:nvSpPr>
            <p:cNvPr id="196" name="Google Shape;196;g3acbed7db4e_2_13"/>
            <p:cNvSpPr txBox="1"/>
            <p:nvPr/>
          </p:nvSpPr>
          <p:spPr>
            <a:xfrm>
              <a:off x="1103159" y="4185801"/>
              <a:ext cx="2125200" cy="58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>
                  <a:solidFill>
                    <a:schemeClr val="accent5"/>
                  </a:solidFill>
                  <a:latin typeface="Calibri"/>
                  <a:ea typeface="Calibri"/>
                  <a:cs typeface="Calibri"/>
                  <a:sym typeface="Calibri"/>
                </a:rPr>
                <a:t>Human Development Index (HDI)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 b="1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g3acbed7db4e_2_13"/>
            <p:cNvSpPr/>
            <p:nvPr/>
          </p:nvSpPr>
          <p:spPr>
            <a:xfrm>
              <a:off x="935498" y="4585890"/>
              <a:ext cx="2329500" cy="281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457200" marR="0" lvl="0" indent="-35560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Char char="●"/>
              </a:pPr>
              <a:r>
                <a:rPr lang="en-US" sz="1800">
                  <a:solidFill>
                    <a:schemeClr val="dk1"/>
                  </a:solidFill>
                </a:rPr>
                <a:t>A composite statistic from the United Nations Development Programme (UNDP) that measures a country's average achievements.</a:t>
              </a:r>
              <a:endParaRPr sz="1800">
                <a:solidFill>
                  <a:schemeClr val="dk1"/>
                </a:solidFill>
              </a:endParaRPr>
            </a:p>
            <a:p>
              <a:pPr marL="457200" marR="0" lvl="0" indent="-35560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Char char="●"/>
              </a:pPr>
              <a:r>
                <a:rPr lang="en-US" sz="1800">
                  <a:solidFill>
                    <a:schemeClr val="dk1"/>
                  </a:solidFill>
                </a:rPr>
                <a:t>Three key dimensions: </a:t>
              </a:r>
              <a:endParaRPr sz="1800">
                <a:solidFill>
                  <a:schemeClr val="dk1"/>
                </a:solidFill>
              </a:endParaRPr>
            </a:p>
            <a:p>
              <a:pPr marL="914400" lvl="1" indent="-3302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Char char="○"/>
              </a:pPr>
              <a:r>
                <a:rPr lang="en-US" sz="1600" b="1">
                  <a:solidFill>
                    <a:schemeClr val="dk1"/>
                  </a:solidFill>
                </a:rPr>
                <a:t>Health:</a:t>
              </a:r>
              <a:r>
                <a:rPr lang="en-US" sz="1600">
                  <a:solidFill>
                    <a:schemeClr val="dk1"/>
                  </a:solidFill>
                </a:rPr>
                <a:t> Measured by life expectancy at birth.</a:t>
              </a:r>
              <a:endParaRPr sz="1600">
                <a:solidFill>
                  <a:schemeClr val="dk1"/>
                </a:solidFill>
              </a:endParaRPr>
            </a:p>
            <a:p>
              <a:pPr marL="914400" lvl="1" indent="-3302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Char char="○"/>
              </a:pPr>
              <a:r>
                <a:rPr lang="en-US" sz="1600" b="1">
                  <a:solidFill>
                    <a:schemeClr val="dk1"/>
                  </a:solidFill>
                </a:rPr>
                <a:t>Education:</a:t>
              </a:r>
              <a:r>
                <a:rPr lang="en-US" sz="1600">
                  <a:solidFill>
                    <a:schemeClr val="dk1"/>
                  </a:solidFill>
                </a:rPr>
                <a:t> A combined index of expected years of schooling for children and mean years of schooling for adults.</a:t>
              </a:r>
              <a:endParaRPr sz="1600">
                <a:solidFill>
                  <a:schemeClr val="dk1"/>
                </a:solidFill>
              </a:endParaRPr>
            </a:p>
            <a:p>
              <a:pPr marL="914400" lvl="1" indent="-3302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Char char="○"/>
              </a:pPr>
              <a:r>
                <a:rPr lang="en-US" sz="1600" b="1">
                  <a:solidFill>
                    <a:schemeClr val="dk1"/>
                  </a:solidFill>
                </a:rPr>
                <a:t>Standard of living:</a:t>
              </a:r>
              <a:r>
                <a:rPr lang="en-US" sz="1600">
                  <a:solidFill>
                    <a:schemeClr val="dk1"/>
                  </a:solidFill>
                </a:rPr>
                <a:t> Measured by gross national income per capita (PPP US$).</a:t>
              </a:r>
              <a:endParaRPr sz="1800">
                <a:solidFill>
                  <a:schemeClr val="dk1"/>
                </a:solidFill>
              </a:endParaRPr>
            </a:p>
            <a:p>
              <a:pPr marL="457200" marR="0" lvl="0" indent="-35560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Char char="●"/>
              </a:pPr>
              <a:r>
                <a:rPr lang="en-US" sz="1800">
                  <a:solidFill>
                    <a:schemeClr val="dk1"/>
                  </a:solidFill>
                </a:rPr>
                <a:t>Score: Ranging from 0 to 1, uses a geometric mean to combine indicators for life expectancy, expected and mean years of schooling, and gross national income per capita. A higher score indicates a higher level of human development. </a:t>
              </a:r>
              <a:endParaRPr sz="1600">
                <a:solidFill>
                  <a:schemeClr val="dk1"/>
                </a:solidFill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8" name="Google Shape;198;g3acbed7db4e_2_13"/>
          <p:cNvSpPr/>
          <p:nvPr/>
        </p:nvSpPr>
        <p:spPr>
          <a:xfrm>
            <a:off x="0" y="0"/>
            <a:ext cx="3528600" cy="461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       Research Design</a:t>
            </a:r>
            <a:endParaRPr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99" name="Google Shape;199;g3acbed7db4e_2_13"/>
          <p:cNvSpPr txBox="1"/>
          <p:nvPr/>
        </p:nvSpPr>
        <p:spPr>
          <a:xfrm>
            <a:off x="4247100" y="568300"/>
            <a:ext cx="3697800" cy="6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rPr>
              <a:t>Data Sources</a:t>
            </a:r>
            <a:endParaRPr sz="3400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" name="Google Shape;204;g3acbed7db4e_8_29"/>
          <p:cNvGrpSpPr/>
          <p:nvPr/>
        </p:nvGrpSpPr>
        <p:grpSpPr>
          <a:xfrm>
            <a:off x="380150" y="1523875"/>
            <a:ext cx="5569868" cy="4844354"/>
            <a:chOff x="935495" y="4185793"/>
            <a:chExt cx="2631641" cy="3586551"/>
          </a:xfrm>
        </p:grpSpPr>
        <p:sp>
          <p:nvSpPr>
            <p:cNvPr id="205" name="Google Shape;205;g3acbed7db4e_8_29"/>
            <p:cNvSpPr txBox="1"/>
            <p:nvPr/>
          </p:nvSpPr>
          <p:spPr>
            <a:xfrm>
              <a:off x="945735" y="4185793"/>
              <a:ext cx="2621400" cy="38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>
                  <a:solidFill>
                    <a:srgbClr val="568C11"/>
                  </a:solidFill>
                  <a:latin typeface="Calibri"/>
                  <a:ea typeface="Calibri"/>
                  <a:cs typeface="Calibri"/>
                  <a:sym typeface="Calibri"/>
                </a:rPr>
                <a:t>Social Institutions and Gender Index</a:t>
              </a:r>
              <a:endParaRPr>
                <a:solidFill>
                  <a:srgbClr val="568C11"/>
                </a:solidFill>
              </a:endParaRPr>
            </a:p>
          </p:txBody>
        </p:sp>
        <p:sp>
          <p:nvSpPr>
            <p:cNvPr id="206" name="Google Shape;206;g3acbed7db4e_8_29"/>
            <p:cNvSpPr/>
            <p:nvPr/>
          </p:nvSpPr>
          <p:spPr>
            <a:xfrm>
              <a:off x="935495" y="4865643"/>
              <a:ext cx="2621400" cy="290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457200" lvl="0" indent="-3683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Char char="●"/>
              </a:pPr>
              <a:r>
                <a:rPr lang="en-US" sz="2200">
                  <a:solidFill>
                    <a:schemeClr val="dk1"/>
                  </a:solidFill>
                </a:rPr>
                <a:t>Measures discrimination in laws, norms, and social practices.</a:t>
              </a:r>
              <a:endParaRPr sz="2200">
                <a:solidFill>
                  <a:schemeClr val="dk1"/>
                </a:solidFill>
              </a:endParaRPr>
            </a:p>
            <a:p>
              <a:pPr marL="457200" lvl="0" indent="-3683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Char char="●"/>
              </a:pPr>
              <a:r>
                <a:rPr lang="en-US" sz="2200">
                  <a:solidFill>
                    <a:schemeClr val="dk1"/>
                  </a:solidFill>
                </a:rPr>
                <a:t>Focuses on family, violence, resources, civil liberties, and son bias.</a:t>
              </a:r>
              <a:endParaRPr sz="2200">
                <a:solidFill>
                  <a:schemeClr val="dk1"/>
                </a:solidFill>
              </a:endParaRPr>
            </a:p>
            <a:p>
              <a:pPr marL="457200" lvl="0" indent="-3683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Char char="●"/>
              </a:pPr>
              <a:r>
                <a:rPr lang="en-US" sz="2200">
                  <a:solidFill>
                    <a:schemeClr val="dk1"/>
                  </a:solidFill>
                </a:rPr>
                <a:t>Scores countries from 0 (low) to 1 (high discrimination).</a:t>
              </a:r>
              <a:endParaRPr sz="2200">
                <a:solidFill>
                  <a:schemeClr val="dk1"/>
                </a:solidFill>
              </a:endParaRPr>
            </a:p>
          </p:txBody>
        </p:sp>
      </p:grpSp>
      <p:grpSp>
        <p:nvGrpSpPr>
          <p:cNvPr id="207" name="Google Shape;207;g3acbed7db4e_8_29"/>
          <p:cNvGrpSpPr/>
          <p:nvPr/>
        </p:nvGrpSpPr>
        <p:grpSpPr>
          <a:xfrm>
            <a:off x="6098750" y="1523875"/>
            <a:ext cx="5919260" cy="4824443"/>
            <a:chOff x="935501" y="4185798"/>
            <a:chExt cx="2329500" cy="2951091"/>
          </a:xfrm>
        </p:grpSpPr>
        <p:sp>
          <p:nvSpPr>
            <p:cNvPr id="208" name="Google Shape;208;g3acbed7db4e_8_29"/>
            <p:cNvSpPr txBox="1"/>
            <p:nvPr/>
          </p:nvSpPr>
          <p:spPr>
            <a:xfrm>
              <a:off x="1103161" y="4185798"/>
              <a:ext cx="1802400" cy="32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>
                  <a:solidFill>
                    <a:srgbClr val="674EA7"/>
                  </a:solidFill>
                  <a:latin typeface="Calibri"/>
                  <a:ea typeface="Calibri"/>
                  <a:cs typeface="Calibri"/>
                  <a:sym typeface="Calibri"/>
                </a:rPr>
                <a:t>SDG Gender Index</a:t>
              </a:r>
              <a:endParaRPr sz="2800" b="1">
                <a:solidFill>
                  <a:srgbClr val="674EA7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g3acbed7db4e_8_29"/>
            <p:cNvSpPr/>
            <p:nvPr/>
          </p:nvSpPr>
          <p:spPr>
            <a:xfrm>
              <a:off x="935501" y="4758789"/>
              <a:ext cx="2329500" cy="237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457200" marR="0" lvl="0" indent="-3683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Char char="●"/>
              </a:pPr>
              <a:r>
                <a:rPr lang="en-US" sz="2200">
                  <a:solidFill>
                    <a:schemeClr val="dk1"/>
                  </a:solidFill>
                </a:rPr>
                <a:t>Tracks gender equality outcomes linked to SDG 5 (Achieve Gender Equality and Empower All Women and Girls)</a:t>
              </a:r>
              <a:endParaRPr sz="2200">
                <a:solidFill>
                  <a:schemeClr val="dk1"/>
                </a:solidFill>
              </a:endParaRPr>
            </a:p>
            <a:p>
              <a:pPr marL="457200" marR="0" lvl="0" indent="-3683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Char char="●"/>
              </a:pPr>
              <a:r>
                <a:rPr lang="en-US" sz="2200">
                  <a:solidFill>
                    <a:schemeClr val="dk1"/>
                  </a:solidFill>
                </a:rPr>
                <a:t>Includes education, health, economic, political, and legal indicators.</a:t>
              </a:r>
              <a:endParaRPr sz="2200">
                <a:solidFill>
                  <a:schemeClr val="dk1"/>
                </a:solidFill>
              </a:endParaRPr>
            </a:p>
            <a:p>
              <a:pPr marL="457200" marR="0" lvl="0" indent="-3683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Char char="●"/>
              </a:pPr>
              <a:r>
                <a:rPr lang="en-US" sz="2200">
                  <a:solidFill>
                    <a:schemeClr val="dk1"/>
                  </a:solidFill>
                </a:rPr>
                <a:t>Provides a global benchmark for progress and gaps.</a:t>
              </a:r>
              <a:endParaRPr sz="2200">
                <a:solidFill>
                  <a:schemeClr val="dk1"/>
                </a:solidFill>
              </a:endParaRPr>
            </a:p>
          </p:txBody>
        </p:sp>
      </p:grpSp>
      <p:sp>
        <p:nvSpPr>
          <p:cNvPr id="210" name="Google Shape;210;g3acbed7db4e_8_29"/>
          <p:cNvSpPr/>
          <p:nvPr/>
        </p:nvSpPr>
        <p:spPr>
          <a:xfrm>
            <a:off x="0" y="0"/>
            <a:ext cx="3528600" cy="461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       Research Design</a:t>
            </a:r>
            <a:endParaRPr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11" name="Google Shape;211;g3acbed7db4e_8_29"/>
          <p:cNvSpPr txBox="1"/>
          <p:nvPr/>
        </p:nvSpPr>
        <p:spPr>
          <a:xfrm>
            <a:off x="4247100" y="568300"/>
            <a:ext cx="3697800" cy="6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rPr>
              <a:t>Data Sources</a:t>
            </a:r>
            <a:endParaRPr sz="3400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" name="Google Shape;216;g3acbed7db4e_0_11"/>
          <p:cNvGrpSpPr/>
          <p:nvPr/>
        </p:nvGrpSpPr>
        <p:grpSpPr>
          <a:xfrm>
            <a:off x="380128" y="1334490"/>
            <a:ext cx="11200005" cy="4844416"/>
            <a:chOff x="935493" y="4185793"/>
            <a:chExt cx="2631642" cy="3586597"/>
          </a:xfrm>
        </p:grpSpPr>
        <p:sp>
          <p:nvSpPr>
            <p:cNvPr id="217" name="Google Shape;217;g3acbed7db4e_0_11"/>
            <p:cNvSpPr txBox="1"/>
            <p:nvPr/>
          </p:nvSpPr>
          <p:spPr>
            <a:xfrm>
              <a:off x="945735" y="4185793"/>
              <a:ext cx="2621400" cy="38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>
                  <a:solidFill>
                    <a:srgbClr val="568C11"/>
                  </a:solidFill>
                  <a:latin typeface="Calibri"/>
                  <a:ea typeface="Calibri"/>
                  <a:cs typeface="Calibri"/>
                  <a:sym typeface="Calibri"/>
                </a:rPr>
                <a:t>Creating the Corpus, Tokenization, and Spellchecking</a:t>
              </a:r>
              <a:endParaRPr>
                <a:solidFill>
                  <a:srgbClr val="568C11"/>
                </a:solidFill>
              </a:endParaRPr>
            </a:p>
          </p:txBody>
        </p:sp>
        <p:sp>
          <p:nvSpPr>
            <p:cNvPr id="218" name="Google Shape;218;g3acbed7db4e_0_11"/>
            <p:cNvSpPr/>
            <p:nvPr/>
          </p:nvSpPr>
          <p:spPr>
            <a:xfrm>
              <a:off x="935493" y="4666789"/>
              <a:ext cx="2621400" cy="310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457200" lvl="0" indent="-4064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AutoNum type="arabicPeriod"/>
              </a:pPr>
              <a:r>
                <a:rPr lang="en-US" sz="2800">
                  <a:solidFill>
                    <a:schemeClr val="dk1"/>
                  </a:solidFill>
                </a:rPr>
                <a:t>Created a </a:t>
              </a:r>
              <a:r>
                <a:rPr lang="en-US" sz="2800" b="1">
                  <a:solidFill>
                    <a:srgbClr val="568C11"/>
                  </a:solidFill>
                </a:rPr>
                <a:t>quanteda</a:t>
              </a:r>
              <a:r>
                <a:rPr lang="en-US" sz="2800" b="1">
                  <a:solidFill>
                    <a:schemeClr val="dk1"/>
                  </a:solidFill>
                </a:rPr>
                <a:t> </a:t>
              </a:r>
              <a:r>
                <a:rPr lang="en-US" sz="2800">
                  <a:solidFill>
                    <a:schemeClr val="dk1"/>
                  </a:solidFill>
                </a:rPr>
                <a:t>corpus from the documents using</a:t>
              </a:r>
              <a:r>
                <a:rPr lang="en-US" sz="2800">
                  <a:solidFill>
                    <a:srgbClr val="568C11"/>
                  </a:solidFill>
                </a:rPr>
                <a:t> </a:t>
              </a:r>
              <a:r>
                <a:rPr lang="en-US" sz="2800" b="1">
                  <a:solidFill>
                    <a:srgbClr val="568C11"/>
                  </a:solidFill>
                </a:rPr>
                <a:t>readtext</a:t>
              </a:r>
              <a:r>
                <a:rPr lang="en-US" sz="2800">
                  <a:solidFill>
                    <a:schemeClr val="dk1"/>
                  </a:solidFill>
                </a:rPr>
                <a:t>. </a:t>
              </a:r>
              <a:endParaRPr sz="2800">
                <a:solidFill>
                  <a:schemeClr val="dk1"/>
                </a:solidFill>
              </a:endParaRPr>
            </a:p>
            <a:p>
              <a:pPr marL="457200" lvl="0" indent="-4064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AutoNum type="arabicPeriod"/>
              </a:pPr>
              <a:r>
                <a:rPr lang="en-US" sz="2800">
                  <a:solidFill>
                    <a:schemeClr val="dk1"/>
                  </a:solidFill>
                </a:rPr>
                <a:t>Tokenized the corpus and performed initial cleaning.</a:t>
              </a:r>
              <a:endParaRPr sz="2800">
                <a:solidFill>
                  <a:schemeClr val="dk1"/>
                </a:solidFill>
              </a:endParaRPr>
            </a:p>
            <a:p>
              <a:pPr marL="457200" lvl="0" indent="-4064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AutoNum type="arabicPeriod"/>
              </a:pPr>
              <a:r>
                <a:rPr lang="en-US" sz="2800">
                  <a:solidFill>
                    <a:schemeClr val="dk1"/>
                  </a:solidFill>
                </a:rPr>
                <a:t>Identified unique tokens and find misspellings using </a:t>
              </a:r>
              <a:r>
                <a:rPr lang="en-US" sz="2800" b="1">
                  <a:solidFill>
                    <a:srgbClr val="568C11"/>
                  </a:solidFill>
                </a:rPr>
                <a:t>hunspell</a:t>
              </a:r>
              <a:r>
                <a:rPr lang="en-US" sz="2800">
                  <a:solidFill>
                    <a:schemeClr val="dk1"/>
                  </a:solidFill>
                </a:rPr>
                <a:t>.</a:t>
              </a:r>
              <a:endParaRPr sz="2800">
                <a:solidFill>
                  <a:schemeClr val="dk1"/>
                </a:solidFill>
              </a:endParaRPr>
            </a:p>
            <a:p>
              <a:pPr marL="457200" lvl="0" indent="-4064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AutoNum type="arabicPeriod"/>
              </a:pPr>
              <a:r>
                <a:rPr lang="en-US" sz="2800">
                  <a:solidFill>
                    <a:schemeClr val="dk1"/>
                  </a:solidFill>
                </a:rPr>
                <a:t>Generated automatic suggestions and performed manual corrections on the 800 most common errors. (with the help of AI) </a:t>
              </a:r>
              <a:endParaRPr sz="2800">
                <a:solidFill>
                  <a:schemeClr val="dk1"/>
                </a:solidFill>
              </a:endParaRPr>
            </a:p>
            <a:p>
              <a:pPr marL="457200" lvl="0" indent="-4064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AutoNum type="arabicPeriod"/>
              </a:pPr>
              <a:r>
                <a:rPr lang="en-US" sz="2800">
                  <a:solidFill>
                    <a:schemeClr val="dk1"/>
                  </a:solidFill>
                </a:rPr>
                <a:t>Replaced misspelled tokens and exported data into a csv for analysis in Python.</a:t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9" name="Google Shape;219;g3acbed7db4e_0_11"/>
          <p:cNvSpPr/>
          <p:nvPr/>
        </p:nvSpPr>
        <p:spPr>
          <a:xfrm>
            <a:off x="0" y="0"/>
            <a:ext cx="3528600" cy="461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       Research Design</a:t>
            </a:r>
            <a:endParaRPr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20" name="Google Shape;220;g3acbed7db4e_0_11"/>
          <p:cNvSpPr txBox="1"/>
          <p:nvPr/>
        </p:nvSpPr>
        <p:spPr>
          <a:xfrm>
            <a:off x="4541100" y="568300"/>
            <a:ext cx="3109800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rPr>
              <a:t>Data Processing</a:t>
            </a:r>
            <a:endParaRPr sz="3400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" name="Google Shape;225;p9"/>
          <p:cNvGrpSpPr/>
          <p:nvPr/>
        </p:nvGrpSpPr>
        <p:grpSpPr>
          <a:xfrm>
            <a:off x="1527270" y="1666124"/>
            <a:ext cx="2384573" cy="2384573"/>
            <a:chOff x="4240335" y="3008435"/>
            <a:chExt cx="3711332" cy="3711332"/>
          </a:xfrm>
        </p:grpSpPr>
        <p:sp>
          <p:nvSpPr>
            <p:cNvPr id="226" name="Google Shape;226;p9"/>
            <p:cNvSpPr/>
            <p:nvPr/>
          </p:nvSpPr>
          <p:spPr>
            <a:xfrm>
              <a:off x="4240335" y="3008435"/>
              <a:ext cx="3711332" cy="3711332"/>
            </a:xfrm>
            <a:prstGeom prst="ellipse">
              <a:avLst/>
            </a:prstGeom>
            <a:gradFill>
              <a:gsLst>
                <a:gs pos="0">
                  <a:schemeClr val="lt1"/>
                </a:gs>
                <a:gs pos="100000">
                  <a:srgbClr val="BFBFBF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27" name="Google Shape;227;p9"/>
            <p:cNvGrpSpPr/>
            <p:nvPr/>
          </p:nvGrpSpPr>
          <p:grpSpPr>
            <a:xfrm>
              <a:off x="4710169" y="3478269"/>
              <a:ext cx="2771663" cy="2771663"/>
              <a:chOff x="2193191" y="1899415"/>
              <a:chExt cx="2421376" cy="2421376"/>
            </a:xfrm>
          </p:grpSpPr>
          <p:sp>
            <p:nvSpPr>
              <p:cNvPr id="228" name="Google Shape;228;p9"/>
              <p:cNvSpPr/>
              <p:nvPr/>
            </p:nvSpPr>
            <p:spPr>
              <a:xfrm>
                <a:off x="2193191" y="1899415"/>
                <a:ext cx="2421376" cy="2421376"/>
              </a:xfrm>
              <a:prstGeom prst="ellipse">
                <a:avLst/>
              </a:prstGeom>
              <a:solidFill>
                <a:schemeClr val="accent3"/>
              </a:solidFill>
              <a:ln w="31750" cap="flat" cmpd="sng">
                <a:solidFill>
                  <a:srgbClr val="BFBFB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5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9" name="Google Shape;229;p9"/>
              <p:cNvSpPr/>
              <p:nvPr/>
            </p:nvSpPr>
            <p:spPr>
              <a:xfrm>
                <a:off x="2345502" y="2051726"/>
                <a:ext cx="2116756" cy="2116756"/>
              </a:xfrm>
              <a:prstGeom prst="ellipse">
                <a:avLst/>
              </a:prstGeom>
              <a:solidFill>
                <a:srgbClr val="F2F2F2"/>
              </a:solidFill>
              <a:ln>
                <a:noFill/>
              </a:ln>
              <a:effectLst>
                <a:outerShdw blurRad="152400" dist="63500" dir="2700000" algn="tl" rotWithShape="0">
                  <a:srgbClr val="568C11">
                    <a:alpha val="63921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5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30" name="Google Shape;230;p9"/>
          <p:cNvSpPr/>
          <p:nvPr/>
        </p:nvSpPr>
        <p:spPr>
          <a:xfrm>
            <a:off x="600" y="-348344"/>
            <a:ext cx="2718956" cy="7417183"/>
          </a:xfrm>
          <a:custGeom>
            <a:avLst/>
            <a:gdLst/>
            <a:ahLst/>
            <a:cxnLst/>
            <a:rect l="l" t="t" r="r" b="b"/>
            <a:pathLst>
              <a:path w="2837789" h="8001905" extrusionOk="0">
                <a:moveTo>
                  <a:pt x="0" y="0"/>
                </a:moveTo>
                <a:lnTo>
                  <a:pt x="2837788" y="0"/>
                </a:lnTo>
                <a:lnTo>
                  <a:pt x="2837788" y="1968500"/>
                </a:lnTo>
                <a:lnTo>
                  <a:pt x="2837789" y="1968500"/>
                </a:lnTo>
                <a:lnTo>
                  <a:pt x="2837789" y="2363879"/>
                </a:lnTo>
                <a:lnTo>
                  <a:pt x="2618085" y="2386026"/>
                </a:lnTo>
                <a:cubicBezTo>
                  <a:pt x="2121320" y="2487680"/>
                  <a:pt x="1747634" y="2927218"/>
                  <a:pt x="1747634" y="3454034"/>
                </a:cubicBezTo>
                <a:cubicBezTo>
                  <a:pt x="1747634" y="3980852"/>
                  <a:pt x="2121320" y="4420389"/>
                  <a:pt x="2618085" y="4522042"/>
                </a:cubicBezTo>
                <a:lnTo>
                  <a:pt x="2837789" y="4544190"/>
                </a:lnTo>
                <a:lnTo>
                  <a:pt x="2837789" y="6858000"/>
                </a:lnTo>
                <a:lnTo>
                  <a:pt x="2837788" y="6858000"/>
                </a:lnTo>
                <a:lnTo>
                  <a:pt x="2837788" y="8001905"/>
                </a:lnTo>
                <a:lnTo>
                  <a:pt x="0" y="8001905"/>
                </a:lnTo>
                <a:lnTo>
                  <a:pt x="0" y="6858000"/>
                </a:lnTo>
                <a:lnTo>
                  <a:pt x="0" y="6376305"/>
                </a:lnTo>
                <a:lnTo>
                  <a:pt x="0" y="2133600"/>
                </a:lnTo>
                <a:lnTo>
                  <a:pt x="0" y="19685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5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4002060" y="4379076"/>
            <a:ext cx="6838231" cy="42891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BFBFBF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5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 txBox="1"/>
          <p:nvPr/>
        </p:nvSpPr>
        <p:spPr>
          <a:xfrm>
            <a:off x="6147350" y="4756000"/>
            <a:ext cx="1261500" cy="5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650">
                <a:solidFill>
                  <a:srgbClr val="404040"/>
                </a:solidFill>
                <a:latin typeface="Impact"/>
                <a:ea typeface="Impact"/>
                <a:cs typeface="Impact"/>
                <a:sym typeface="Impact"/>
              </a:rPr>
              <a:t>Results</a:t>
            </a:r>
            <a:endParaRPr sz="2665">
              <a:solidFill>
                <a:srgbClr val="3F3F3F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grpSp>
        <p:nvGrpSpPr>
          <p:cNvPr id="233" name="Google Shape;233;p9"/>
          <p:cNvGrpSpPr/>
          <p:nvPr/>
        </p:nvGrpSpPr>
        <p:grpSpPr>
          <a:xfrm>
            <a:off x="2383327" y="2490049"/>
            <a:ext cx="702937" cy="707692"/>
            <a:chOff x="5042691" y="2273920"/>
            <a:chExt cx="702937" cy="707692"/>
          </a:xfrm>
        </p:grpSpPr>
        <p:sp>
          <p:nvSpPr>
            <p:cNvPr id="234" name="Google Shape;234;p9"/>
            <p:cNvSpPr/>
            <p:nvPr/>
          </p:nvSpPr>
          <p:spPr>
            <a:xfrm>
              <a:off x="5284806" y="2789968"/>
              <a:ext cx="460822" cy="191644"/>
            </a:xfrm>
            <a:custGeom>
              <a:avLst/>
              <a:gdLst/>
              <a:ahLst/>
              <a:cxnLst/>
              <a:rect l="l" t="t" r="r" b="b"/>
              <a:pathLst>
                <a:path w="533" h="222" extrusionOk="0">
                  <a:moveTo>
                    <a:pt x="25" y="165"/>
                  </a:moveTo>
                  <a:cubicBezTo>
                    <a:pt x="158" y="165"/>
                    <a:pt x="158" y="165"/>
                    <a:pt x="158" y="165"/>
                  </a:cubicBezTo>
                  <a:cubicBezTo>
                    <a:pt x="158" y="108"/>
                    <a:pt x="158" y="108"/>
                    <a:pt x="158" y="108"/>
                  </a:cubicBezTo>
                  <a:cubicBezTo>
                    <a:pt x="158" y="94"/>
                    <a:pt x="170" y="83"/>
                    <a:pt x="184" y="83"/>
                  </a:cubicBezTo>
                  <a:cubicBezTo>
                    <a:pt x="317" y="83"/>
                    <a:pt x="317" y="83"/>
                    <a:pt x="317" y="83"/>
                  </a:cubicBezTo>
                  <a:cubicBezTo>
                    <a:pt x="317" y="25"/>
                    <a:pt x="317" y="25"/>
                    <a:pt x="317" y="25"/>
                  </a:cubicBezTo>
                  <a:cubicBezTo>
                    <a:pt x="317" y="11"/>
                    <a:pt x="329" y="0"/>
                    <a:pt x="343" y="0"/>
                  </a:cubicBezTo>
                  <a:cubicBezTo>
                    <a:pt x="533" y="0"/>
                    <a:pt x="533" y="0"/>
                    <a:pt x="533" y="0"/>
                  </a:cubicBezTo>
                  <a:cubicBezTo>
                    <a:pt x="533" y="32"/>
                    <a:pt x="533" y="32"/>
                    <a:pt x="533" y="32"/>
                  </a:cubicBezTo>
                  <a:cubicBezTo>
                    <a:pt x="533" y="46"/>
                    <a:pt x="522" y="57"/>
                    <a:pt x="508" y="57"/>
                  </a:cubicBezTo>
                  <a:cubicBezTo>
                    <a:pt x="375" y="57"/>
                    <a:pt x="375" y="57"/>
                    <a:pt x="375" y="57"/>
                  </a:cubicBezTo>
                  <a:cubicBezTo>
                    <a:pt x="375" y="114"/>
                    <a:pt x="375" y="114"/>
                    <a:pt x="375" y="114"/>
                  </a:cubicBezTo>
                  <a:cubicBezTo>
                    <a:pt x="375" y="128"/>
                    <a:pt x="363" y="140"/>
                    <a:pt x="349" y="140"/>
                  </a:cubicBezTo>
                  <a:cubicBezTo>
                    <a:pt x="216" y="140"/>
                    <a:pt x="216" y="140"/>
                    <a:pt x="216" y="140"/>
                  </a:cubicBezTo>
                  <a:cubicBezTo>
                    <a:pt x="216" y="197"/>
                    <a:pt x="216" y="197"/>
                    <a:pt x="216" y="197"/>
                  </a:cubicBezTo>
                  <a:cubicBezTo>
                    <a:pt x="216" y="211"/>
                    <a:pt x="204" y="222"/>
                    <a:pt x="190" y="222"/>
                  </a:cubicBezTo>
                  <a:cubicBezTo>
                    <a:pt x="0" y="222"/>
                    <a:pt x="0" y="222"/>
                    <a:pt x="0" y="222"/>
                  </a:cubicBezTo>
                  <a:cubicBezTo>
                    <a:pt x="0" y="191"/>
                    <a:pt x="0" y="191"/>
                    <a:pt x="0" y="191"/>
                  </a:cubicBezTo>
                  <a:cubicBezTo>
                    <a:pt x="0" y="177"/>
                    <a:pt x="11" y="165"/>
                    <a:pt x="25" y="16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60950" rIns="121900" bIns="609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" name="Google Shape;235;p9"/>
            <p:cNvSpPr/>
            <p:nvPr/>
          </p:nvSpPr>
          <p:spPr>
            <a:xfrm>
              <a:off x="5042691" y="2273920"/>
              <a:ext cx="529214" cy="655758"/>
            </a:xfrm>
            <a:custGeom>
              <a:avLst/>
              <a:gdLst/>
              <a:ahLst/>
              <a:cxnLst/>
              <a:rect l="l" t="t" r="r" b="b"/>
              <a:pathLst>
                <a:path w="612" h="759" extrusionOk="0">
                  <a:moveTo>
                    <a:pt x="28" y="504"/>
                  </a:moveTo>
                  <a:cubicBezTo>
                    <a:pt x="148" y="514"/>
                    <a:pt x="148" y="514"/>
                    <a:pt x="148" y="514"/>
                  </a:cubicBezTo>
                  <a:cubicBezTo>
                    <a:pt x="164" y="516"/>
                    <a:pt x="177" y="504"/>
                    <a:pt x="179" y="488"/>
                  </a:cubicBezTo>
                  <a:cubicBezTo>
                    <a:pt x="184" y="423"/>
                    <a:pt x="184" y="423"/>
                    <a:pt x="184" y="423"/>
                  </a:cubicBezTo>
                  <a:cubicBezTo>
                    <a:pt x="186" y="407"/>
                    <a:pt x="174" y="393"/>
                    <a:pt x="158" y="392"/>
                  </a:cubicBezTo>
                  <a:cubicBezTo>
                    <a:pt x="38" y="381"/>
                    <a:pt x="38" y="381"/>
                    <a:pt x="38" y="381"/>
                  </a:cubicBezTo>
                  <a:cubicBezTo>
                    <a:pt x="23" y="380"/>
                    <a:pt x="9" y="392"/>
                    <a:pt x="7" y="407"/>
                  </a:cubicBezTo>
                  <a:cubicBezTo>
                    <a:pt x="2" y="473"/>
                    <a:pt x="2" y="473"/>
                    <a:pt x="2" y="473"/>
                  </a:cubicBezTo>
                  <a:cubicBezTo>
                    <a:pt x="0" y="489"/>
                    <a:pt x="12" y="503"/>
                    <a:pt x="28" y="504"/>
                  </a:cubicBezTo>
                  <a:close/>
                  <a:moveTo>
                    <a:pt x="157" y="669"/>
                  </a:moveTo>
                  <a:cubicBezTo>
                    <a:pt x="220" y="595"/>
                    <a:pt x="230" y="592"/>
                    <a:pt x="254" y="487"/>
                  </a:cubicBezTo>
                  <a:cubicBezTo>
                    <a:pt x="280" y="496"/>
                    <a:pt x="307" y="504"/>
                    <a:pt x="334" y="512"/>
                  </a:cubicBezTo>
                  <a:cubicBezTo>
                    <a:pt x="337" y="513"/>
                    <a:pt x="339" y="514"/>
                    <a:pt x="342" y="515"/>
                  </a:cubicBezTo>
                  <a:cubicBezTo>
                    <a:pt x="303" y="633"/>
                    <a:pt x="296" y="637"/>
                    <a:pt x="216" y="722"/>
                  </a:cubicBezTo>
                  <a:cubicBezTo>
                    <a:pt x="180" y="759"/>
                    <a:pt x="122" y="709"/>
                    <a:pt x="157" y="669"/>
                  </a:cubicBezTo>
                  <a:close/>
                  <a:moveTo>
                    <a:pt x="379" y="7"/>
                  </a:moveTo>
                  <a:cubicBezTo>
                    <a:pt x="413" y="15"/>
                    <a:pt x="434" y="49"/>
                    <a:pt x="426" y="84"/>
                  </a:cubicBezTo>
                  <a:cubicBezTo>
                    <a:pt x="419" y="120"/>
                    <a:pt x="383" y="157"/>
                    <a:pt x="349" y="150"/>
                  </a:cubicBezTo>
                  <a:cubicBezTo>
                    <a:pt x="315" y="143"/>
                    <a:pt x="297" y="94"/>
                    <a:pt x="304" y="59"/>
                  </a:cubicBezTo>
                  <a:cubicBezTo>
                    <a:pt x="312" y="23"/>
                    <a:pt x="345" y="0"/>
                    <a:pt x="379" y="7"/>
                  </a:cubicBezTo>
                  <a:close/>
                  <a:moveTo>
                    <a:pt x="371" y="183"/>
                  </a:moveTo>
                  <a:cubicBezTo>
                    <a:pt x="378" y="185"/>
                    <a:pt x="393" y="190"/>
                    <a:pt x="403" y="199"/>
                  </a:cubicBezTo>
                  <a:cubicBezTo>
                    <a:pt x="494" y="286"/>
                    <a:pt x="474" y="282"/>
                    <a:pt x="574" y="278"/>
                  </a:cubicBezTo>
                  <a:cubicBezTo>
                    <a:pt x="612" y="277"/>
                    <a:pt x="611" y="338"/>
                    <a:pt x="579" y="341"/>
                  </a:cubicBezTo>
                  <a:cubicBezTo>
                    <a:pt x="477" y="350"/>
                    <a:pt x="470" y="358"/>
                    <a:pt x="398" y="296"/>
                  </a:cubicBezTo>
                  <a:cubicBezTo>
                    <a:pt x="381" y="385"/>
                    <a:pt x="381" y="385"/>
                    <a:pt x="381" y="385"/>
                  </a:cubicBezTo>
                  <a:cubicBezTo>
                    <a:pt x="380" y="392"/>
                    <a:pt x="383" y="399"/>
                    <a:pt x="390" y="402"/>
                  </a:cubicBezTo>
                  <a:cubicBezTo>
                    <a:pt x="494" y="448"/>
                    <a:pt x="515" y="448"/>
                    <a:pt x="561" y="593"/>
                  </a:cubicBezTo>
                  <a:cubicBezTo>
                    <a:pt x="578" y="638"/>
                    <a:pt x="510" y="668"/>
                    <a:pt x="489" y="626"/>
                  </a:cubicBezTo>
                  <a:cubicBezTo>
                    <a:pt x="417" y="484"/>
                    <a:pt x="405" y="506"/>
                    <a:pt x="233" y="447"/>
                  </a:cubicBezTo>
                  <a:cubicBezTo>
                    <a:pt x="211" y="435"/>
                    <a:pt x="203" y="416"/>
                    <a:pt x="203" y="392"/>
                  </a:cubicBezTo>
                  <a:cubicBezTo>
                    <a:pt x="231" y="239"/>
                    <a:pt x="231" y="239"/>
                    <a:pt x="231" y="239"/>
                  </a:cubicBezTo>
                  <a:cubicBezTo>
                    <a:pt x="164" y="260"/>
                    <a:pt x="171" y="259"/>
                    <a:pt x="157" y="344"/>
                  </a:cubicBezTo>
                  <a:cubicBezTo>
                    <a:pt x="151" y="376"/>
                    <a:pt x="91" y="372"/>
                    <a:pt x="95" y="332"/>
                  </a:cubicBezTo>
                  <a:cubicBezTo>
                    <a:pt x="107" y="207"/>
                    <a:pt x="126" y="199"/>
                    <a:pt x="247" y="155"/>
                  </a:cubicBezTo>
                  <a:cubicBezTo>
                    <a:pt x="264" y="149"/>
                    <a:pt x="304" y="160"/>
                    <a:pt x="313" y="163"/>
                  </a:cubicBezTo>
                  <a:cubicBezTo>
                    <a:pt x="349" y="227"/>
                    <a:pt x="349" y="227"/>
                    <a:pt x="349" y="227"/>
                  </a:cubicBezTo>
                  <a:cubicBezTo>
                    <a:pt x="371" y="183"/>
                    <a:pt x="371" y="183"/>
                    <a:pt x="371" y="18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60950" rIns="121900" bIns="609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6" name="Google Shape;236;p9"/>
          <p:cNvSpPr txBox="1"/>
          <p:nvPr/>
        </p:nvSpPr>
        <p:spPr>
          <a:xfrm>
            <a:off x="4375562" y="2112327"/>
            <a:ext cx="48051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>
                <a:solidFill>
                  <a:schemeClr val="accent3"/>
                </a:solidFill>
                <a:latin typeface="Impact"/>
                <a:ea typeface="Impact"/>
                <a:cs typeface="Impact"/>
                <a:sym typeface="Impact"/>
              </a:rPr>
              <a:t>PART   03</a:t>
            </a:r>
            <a:endParaRPr>
              <a:solidFill>
                <a:schemeClr val="accent3"/>
              </a:solidFill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acbed7db4e_4_0"/>
          <p:cNvSpPr txBox="1">
            <a:spLocks noGrp="1"/>
          </p:cNvSpPr>
          <p:nvPr>
            <p:ph type="body" idx="4294967295"/>
          </p:nvPr>
        </p:nvSpPr>
        <p:spPr>
          <a:xfrm>
            <a:off x="3999951" y="928625"/>
            <a:ext cx="4511100" cy="5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2860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Impact"/>
                <a:ea typeface="Impact"/>
                <a:cs typeface="Impact"/>
                <a:sym typeface="Impact"/>
              </a:rPr>
              <a:t>Method 1: Textual Analysis</a:t>
            </a:r>
            <a:endParaRPr sz="3000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42" name="Google Shape;242;g3acbed7db4e_4_0"/>
          <p:cNvSpPr/>
          <p:nvPr/>
        </p:nvSpPr>
        <p:spPr>
          <a:xfrm>
            <a:off x="1454750" y="1836751"/>
            <a:ext cx="9601500" cy="40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 computational text analysis techniques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○"/>
            </a:pPr>
            <a:r>
              <a:rPr lang="en-US" sz="24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Topic Modeling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○"/>
            </a:pPr>
            <a:r>
              <a:rPr lang="en-US" sz="24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Word Frequency Analysis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Examine the </a:t>
            </a: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evolution of Australia’s WBS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between 1984 and 2025.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Capture both the </a:t>
            </a: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latent thematic structures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the </a:t>
            </a: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explicit linguistic patterns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Characterize how GRB has been conceptualized and framed </a:t>
            </a: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 different political, institutional, and social contexts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g3acbed7db4e_4_0"/>
          <p:cNvSpPr/>
          <p:nvPr/>
        </p:nvSpPr>
        <p:spPr>
          <a:xfrm>
            <a:off x="0" y="0"/>
            <a:ext cx="3528600" cy="461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       Result: Textual Analysis</a:t>
            </a:r>
            <a:endParaRPr sz="160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0"/>
          <p:cNvSpPr txBox="1"/>
          <p:nvPr/>
        </p:nvSpPr>
        <p:spPr>
          <a:xfrm>
            <a:off x="557432" y="1615251"/>
            <a:ext cx="18473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1291356" y="957979"/>
            <a:ext cx="96093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Identifies </a:t>
            </a: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underlying themes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(e.g., health, education, social protection, family)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Temporal trend: Tracks </a:t>
            </a: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thematic shifts over time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(e.g., “economic participation”--market-oriented vs. “social protection”--welfare-oriented framing)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1" name="Google Shape;251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625" y="4151000"/>
            <a:ext cx="10490749" cy="253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8250" y="2015350"/>
            <a:ext cx="11755500" cy="207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10"/>
          <p:cNvSpPr/>
          <p:nvPr/>
        </p:nvSpPr>
        <p:spPr>
          <a:xfrm>
            <a:off x="0" y="0"/>
            <a:ext cx="3528600" cy="461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       Result: Textual Analysis</a:t>
            </a:r>
            <a:endParaRPr sz="160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54" name="Google Shape;254;p10"/>
          <p:cNvSpPr txBox="1">
            <a:spLocks noGrp="1"/>
          </p:cNvSpPr>
          <p:nvPr>
            <p:ph type="body" idx="4294967295"/>
          </p:nvPr>
        </p:nvSpPr>
        <p:spPr>
          <a:xfrm>
            <a:off x="4322539" y="410305"/>
            <a:ext cx="3546900" cy="5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3000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rPr>
              <a:t>Topic Modeling (LDA)</a:t>
            </a:r>
            <a:endParaRPr sz="3000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acbed7db4e_5_8"/>
          <p:cNvSpPr txBox="1"/>
          <p:nvPr/>
        </p:nvSpPr>
        <p:spPr>
          <a:xfrm>
            <a:off x="557432" y="1615251"/>
            <a:ext cx="184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g3acbed7db4e_5_8"/>
          <p:cNvSpPr/>
          <p:nvPr/>
        </p:nvSpPr>
        <p:spPr>
          <a:xfrm>
            <a:off x="1291350" y="1269749"/>
            <a:ext cx="9609300" cy="51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alibri"/>
              <a:buChar char="●"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Across the entire period, topics consistently reflects the government’s emphasis on </a:t>
            </a:r>
            <a:r>
              <a:rPr lang="en-US" sz="23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women’s access to social services—including care, health, and national support programs</a:t>
            </a: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—indicating that foundational </a:t>
            </a:r>
            <a:r>
              <a:rPr lang="en-US" sz="23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welfare-oriented language</a:t>
            </a: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has remained a core component of WBS discourse.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Topic theme:</a:t>
            </a:r>
            <a:endParaRPr sz="2600" b="1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74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lang="en-US" sz="23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Gender-based violence, women’s safety, and health-related protection</a:t>
            </a: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salience increasing during the </a:t>
            </a:r>
            <a:r>
              <a:rPr lang="en-US" sz="23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late 2000s and again after 2021.</a:t>
            </a:r>
            <a:endParaRPr sz="23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74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US" sz="23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post-2021 period</a:t>
            </a: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shows a clear </a:t>
            </a:r>
            <a:r>
              <a:rPr lang="en-US" sz="23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reintensification of discourse around women’s safety and social services</a:t>
            </a: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suggesting that the reinstated WBS responds directly to contemporary political pressures and public concern about gender inequality. 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g3acbed7db4e_5_8"/>
          <p:cNvSpPr/>
          <p:nvPr/>
        </p:nvSpPr>
        <p:spPr>
          <a:xfrm>
            <a:off x="0" y="0"/>
            <a:ext cx="3528600" cy="461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       Result: Textual Analysis</a:t>
            </a:r>
            <a:endParaRPr sz="160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63" name="Google Shape;263;g3acbed7db4e_5_8"/>
          <p:cNvSpPr txBox="1">
            <a:spLocks noGrp="1"/>
          </p:cNvSpPr>
          <p:nvPr>
            <p:ph type="body" idx="4294967295"/>
          </p:nvPr>
        </p:nvSpPr>
        <p:spPr>
          <a:xfrm>
            <a:off x="4322539" y="410305"/>
            <a:ext cx="3546900" cy="5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3000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rPr>
              <a:t>Topic Modeling (LDA)</a:t>
            </a:r>
            <a:endParaRPr sz="3000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1"/>
          <p:cNvSpPr txBox="1">
            <a:spLocks noGrp="1"/>
          </p:cNvSpPr>
          <p:nvPr>
            <p:ph type="body" idx="4294967295"/>
          </p:nvPr>
        </p:nvSpPr>
        <p:spPr>
          <a:xfrm>
            <a:off x="3799177" y="151130"/>
            <a:ext cx="4605600" cy="5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3000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rPr>
              <a:t>Word Frequency Analysis</a:t>
            </a:r>
            <a:endParaRPr sz="3000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70" name="Google Shape;270;p11"/>
          <p:cNvSpPr txBox="1"/>
          <p:nvPr/>
        </p:nvSpPr>
        <p:spPr>
          <a:xfrm>
            <a:off x="557432" y="1615251"/>
            <a:ext cx="18473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1"/>
          <p:cNvSpPr/>
          <p:nvPr/>
        </p:nvSpPr>
        <p:spPr>
          <a:xfrm>
            <a:off x="767988" y="657217"/>
            <a:ext cx="10656000" cy="17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Direct measure of the </a:t>
            </a: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visibility and prioritization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gender-related discourse </a:t>
            </a:r>
            <a:endParaRPr/>
          </a:p>
          <a:p>
            <a:pPr marL="457200" marR="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Uses </a:t>
            </a: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term frequency-inverse document frequency (TF-IDF)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weighting to adjust for differences in document length and overall term usage</a:t>
            </a:r>
            <a:endParaRPr/>
          </a:p>
          <a:p>
            <a:pPr marL="457200" marR="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reveal how the </a:t>
            </a: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lexical prominence of specific concepts has evolved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2" name="Google Shape;27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4050" y="2015350"/>
            <a:ext cx="9795979" cy="4741625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11"/>
          <p:cNvSpPr/>
          <p:nvPr/>
        </p:nvSpPr>
        <p:spPr>
          <a:xfrm>
            <a:off x="0" y="0"/>
            <a:ext cx="3528600" cy="461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       Result: Textual Analysis</a:t>
            </a:r>
            <a:endParaRPr sz="160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acbed7db4e_5_21"/>
          <p:cNvSpPr txBox="1"/>
          <p:nvPr/>
        </p:nvSpPr>
        <p:spPr>
          <a:xfrm>
            <a:off x="557432" y="1615251"/>
            <a:ext cx="184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g3acbed7db4e_5_21"/>
          <p:cNvSpPr/>
          <p:nvPr/>
        </p:nvSpPr>
        <p:spPr>
          <a:xfrm>
            <a:off x="762750" y="1115375"/>
            <a:ext cx="10666500" cy="54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Patterns discovered</a:t>
            </a:r>
            <a:endParaRPr sz="2000" b="1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frequency of </a:t>
            </a:r>
            <a:r>
              <a:rPr lang="en-US" sz="2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“violence”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displays a distinct temporal pattern. 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○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is present sporadically in the </a:t>
            </a:r>
            <a:r>
              <a:rPr lang="en-US" sz="20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late 1990s and early 2000s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but increases substantially from 2008 onward, and </a:t>
            </a:r>
            <a:r>
              <a:rPr lang="en-US" sz="20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especially after 2021.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○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resurgence of “violence” as a top word—from 2021 through the 2022 and 2023 statements—marked by national inquiries, public protests, and heightened visibility of gendered violence cases.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US" sz="2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early 2000s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also show increases in terms like “</a:t>
            </a:r>
            <a:r>
              <a:rPr lang="en-US" sz="2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community,” “families,” and “children.” 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○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Howard-era WBS adopted a more community- and family-oriented framing of gender equity, consistent with conservative policy agendas emphasizing household-level supports, regional targeting, and localized service delivery rather than system-level feminist reforms.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Terms such as </a:t>
            </a:r>
            <a:r>
              <a:rPr lang="en-US" sz="2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“pension,” “indigenous,” and “rural” 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appearing in the top ranks (e.g., </a:t>
            </a:r>
            <a:r>
              <a:rPr lang="en-US" sz="2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1997, 2000, 2001, 2008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○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indicate selective focus on specific population groups within the broader umbrella of women’s programs.</a:t>
            </a:r>
            <a:r>
              <a:rPr lang="en-US" sz="12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g3acbed7db4e_5_21"/>
          <p:cNvSpPr/>
          <p:nvPr/>
        </p:nvSpPr>
        <p:spPr>
          <a:xfrm>
            <a:off x="0" y="0"/>
            <a:ext cx="3528600" cy="461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       Result: Textual Analysis</a:t>
            </a:r>
            <a:endParaRPr sz="160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82" name="Google Shape;282;g3acbed7db4e_5_21"/>
          <p:cNvSpPr txBox="1">
            <a:spLocks noGrp="1"/>
          </p:cNvSpPr>
          <p:nvPr>
            <p:ph type="body" idx="4294967295"/>
          </p:nvPr>
        </p:nvSpPr>
        <p:spPr>
          <a:xfrm>
            <a:off x="3793202" y="549830"/>
            <a:ext cx="4605600" cy="5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3000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rPr>
              <a:t>Word Frequency Analysis</a:t>
            </a:r>
            <a:endParaRPr sz="3000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" name="Google Shape;287;p14"/>
          <p:cNvGrpSpPr/>
          <p:nvPr/>
        </p:nvGrpSpPr>
        <p:grpSpPr>
          <a:xfrm>
            <a:off x="1226263" y="1537481"/>
            <a:ext cx="8970940" cy="1622426"/>
            <a:chOff x="192340" y="2043095"/>
            <a:chExt cx="3707460" cy="1695679"/>
          </a:xfrm>
        </p:grpSpPr>
        <p:sp>
          <p:nvSpPr>
            <p:cNvPr id="288" name="Google Shape;288;p14"/>
            <p:cNvSpPr txBox="1"/>
            <p:nvPr/>
          </p:nvSpPr>
          <p:spPr>
            <a:xfrm>
              <a:off x="192340" y="2043095"/>
              <a:ext cx="3704400" cy="48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Objective 1</a:t>
              </a:r>
              <a:endParaRPr sz="2400">
                <a:solidFill>
                  <a:srgbClr val="0070C0"/>
                </a:solidFill>
              </a:endParaRPr>
            </a:p>
          </p:txBody>
        </p:sp>
        <p:sp>
          <p:nvSpPr>
            <p:cNvPr id="289" name="Google Shape;289;p14"/>
            <p:cNvSpPr/>
            <p:nvPr/>
          </p:nvSpPr>
          <p:spPr>
            <a:xfrm>
              <a:off x="195400" y="2578974"/>
              <a:ext cx="3704400" cy="115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The regression analysis aims to quantitatively evaluate the relationship between the Key Words of the Women’s Budget Statements (WBS) and the ndex (GII &amp; HDI) from certain years.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0" name="Google Shape;290;p14"/>
          <p:cNvGrpSpPr/>
          <p:nvPr/>
        </p:nvGrpSpPr>
        <p:grpSpPr>
          <a:xfrm>
            <a:off x="1226279" y="3159897"/>
            <a:ext cx="9569180" cy="1405663"/>
            <a:chOff x="707525" y="2043094"/>
            <a:chExt cx="3192600" cy="1204200"/>
          </a:xfrm>
        </p:grpSpPr>
        <p:sp>
          <p:nvSpPr>
            <p:cNvPr id="291" name="Google Shape;291;p14"/>
            <p:cNvSpPr txBox="1"/>
            <p:nvPr/>
          </p:nvSpPr>
          <p:spPr>
            <a:xfrm>
              <a:off x="3091335" y="2043094"/>
              <a:ext cx="805500" cy="39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>
                  <a:solidFill>
                    <a:srgbClr val="568C11"/>
                  </a:solidFill>
                  <a:latin typeface="Calibri"/>
                  <a:ea typeface="Calibri"/>
                  <a:cs typeface="Calibri"/>
                  <a:sym typeface="Calibri"/>
                </a:rPr>
                <a:t>Objective 2</a:t>
              </a:r>
              <a:endParaRPr sz="2400">
                <a:solidFill>
                  <a:srgbClr val="568C11"/>
                </a:solidFill>
              </a:endParaRPr>
            </a:p>
          </p:txBody>
        </p:sp>
        <p:sp>
          <p:nvSpPr>
            <p:cNvPr id="292" name="Google Shape;292;p14"/>
            <p:cNvSpPr/>
            <p:nvPr/>
          </p:nvSpPr>
          <p:spPr>
            <a:xfrm>
              <a:off x="707525" y="2504795"/>
              <a:ext cx="3192600" cy="74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This approach allows us to assess whether shifts in </a:t>
              </a:r>
              <a:r>
                <a:rPr lang="en-US" sz="2000" i="1" u="sng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policy emphasis</a:t>
              </a: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within the WBS are associated with changes in </a:t>
              </a:r>
              <a:r>
                <a:rPr lang="en-US" sz="2000" i="1" u="sng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gender-related index </a:t>
              </a: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over time.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3" name="Google Shape;293;p14"/>
          <p:cNvGrpSpPr/>
          <p:nvPr/>
        </p:nvGrpSpPr>
        <p:grpSpPr>
          <a:xfrm>
            <a:off x="1226049" y="4535427"/>
            <a:ext cx="8971364" cy="1545288"/>
            <a:chOff x="309259" y="2043084"/>
            <a:chExt cx="3590700" cy="950303"/>
          </a:xfrm>
        </p:grpSpPr>
        <p:sp>
          <p:nvSpPr>
            <p:cNvPr id="294" name="Google Shape;294;p14"/>
            <p:cNvSpPr txBox="1"/>
            <p:nvPr/>
          </p:nvSpPr>
          <p:spPr>
            <a:xfrm>
              <a:off x="309261" y="2043084"/>
              <a:ext cx="869700" cy="28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>
                  <a:solidFill>
                    <a:srgbClr val="674EA7"/>
                  </a:solidFill>
                  <a:latin typeface="Calibri"/>
                  <a:ea typeface="Calibri"/>
                  <a:cs typeface="Calibri"/>
                  <a:sym typeface="Calibri"/>
                </a:rPr>
                <a:t>Objective 3</a:t>
              </a:r>
              <a:endParaRPr sz="2400">
                <a:solidFill>
                  <a:srgbClr val="674EA7"/>
                </a:solidFill>
              </a:endParaRPr>
            </a:p>
          </p:txBody>
        </p:sp>
        <p:sp>
          <p:nvSpPr>
            <p:cNvPr id="295" name="Google Shape;295;p14"/>
            <p:cNvSpPr/>
            <p:nvPr/>
          </p:nvSpPr>
          <p:spPr>
            <a:xfrm>
              <a:off x="309259" y="2347187"/>
              <a:ext cx="3590700" cy="64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 addition, the analysis will examine whether these relationships differ under governments led by the </a:t>
              </a:r>
              <a:r>
                <a:rPr lang="en-US" sz="2000">
                  <a:solidFill>
                    <a:srgbClr val="980000"/>
                  </a:solidFill>
                  <a:latin typeface="Calibri"/>
                  <a:ea typeface="Calibri"/>
                  <a:cs typeface="Calibri"/>
                  <a:sym typeface="Calibri"/>
                </a:rPr>
                <a:t>Australian </a:t>
              </a:r>
              <a:r>
                <a:rPr lang="en-US" sz="2000" b="1">
                  <a:solidFill>
                    <a:srgbClr val="980000"/>
                  </a:solidFill>
                  <a:latin typeface="Calibri"/>
                  <a:ea typeface="Calibri"/>
                  <a:cs typeface="Calibri"/>
                  <a:sym typeface="Calibri"/>
                </a:rPr>
                <a:t>Labor Party</a:t>
              </a:r>
              <a:r>
                <a:rPr lang="en-US" sz="20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and the </a:t>
              </a:r>
              <a:r>
                <a:rPr lang="en-US" sz="2000" b="1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Liberal Party </a:t>
              </a:r>
              <a:r>
                <a:rPr lang="en-US" sz="20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of Australia</a:t>
              </a: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 </a:t>
              </a:r>
              <a:endParaRPr sz="2000"/>
            </a:p>
          </p:txBody>
        </p:sp>
      </p:grpSp>
      <p:sp>
        <p:nvSpPr>
          <p:cNvPr id="296" name="Google Shape;296;p14"/>
          <p:cNvSpPr txBox="1">
            <a:spLocks noGrp="1"/>
          </p:cNvSpPr>
          <p:nvPr>
            <p:ph type="body" idx="4294967295"/>
          </p:nvPr>
        </p:nvSpPr>
        <p:spPr>
          <a:xfrm>
            <a:off x="2704650" y="845675"/>
            <a:ext cx="6782700" cy="6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2860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Impact"/>
                <a:ea typeface="Impact"/>
                <a:cs typeface="Impact"/>
                <a:sym typeface="Impact"/>
              </a:rPr>
              <a:t>Method 2: Regression Objectives</a:t>
            </a:r>
            <a:endParaRPr sz="3000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97" name="Google Shape;297;p14"/>
          <p:cNvSpPr/>
          <p:nvPr/>
        </p:nvSpPr>
        <p:spPr>
          <a:xfrm>
            <a:off x="0" y="0"/>
            <a:ext cx="3528600" cy="461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       Result: Regression</a:t>
            </a:r>
            <a:endParaRPr sz="160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5"/>
          <p:cNvSpPr txBox="1">
            <a:spLocks noGrp="1"/>
          </p:cNvSpPr>
          <p:nvPr>
            <p:ph type="body" idx="4294967295"/>
          </p:nvPr>
        </p:nvSpPr>
        <p:spPr>
          <a:xfrm>
            <a:off x="4336700" y="683600"/>
            <a:ext cx="357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latin typeface="Impact"/>
                <a:ea typeface="Impact"/>
                <a:cs typeface="Impact"/>
                <a:sym typeface="Impact"/>
              </a:rPr>
              <a:t>Regression Analysis</a:t>
            </a:r>
            <a:endParaRPr sz="2900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grpSp>
        <p:nvGrpSpPr>
          <p:cNvPr id="303" name="Google Shape;303;p15"/>
          <p:cNvGrpSpPr/>
          <p:nvPr/>
        </p:nvGrpSpPr>
        <p:grpSpPr>
          <a:xfrm>
            <a:off x="782796" y="985850"/>
            <a:ext cx="10680196" cy="1316850"/>
            <a:chOff x="4755843" y="5210184"/>
            <a:chExt cx="6096002" cy="1316850"/>
          </a:xfrm>
        </p:grpSpPr>
        <p:sp>
          <p:nvSpPr>
            <p:cNvPr id="304" name="Google Shape;304;p15"/>
            <p:cNvSpPr txBox="1"/>
            <p:nvPr/>
          </p:nvSpPr>
          <p:spPr>
            <a:xfrm>
              <a:off x="4755843" y="5210184"/>
              <a:ext cx="19149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>
                  <a:solidFill>
                    <a:schemeClr val="accent6"/>
                  </a:solidFill>
                  <a:latin typeface="Calibri"/>
                  <a:ea typeface="Calibri"/>
                  <a:cs typeface="Calibri"/>
                  <a:sym typeface="Calibri"/>
                </a:rPr>
                <a:t>OLS Regression</a:t>
              </a:r>
              <a:endParaRPr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" name="Google Shape;305;p15"/>
            <p:cNvSpPr/>
            <p:nvPr/>
          </p:nvSpPr>
          <p:spPr>
            <a:xfrm>
              <a:off x="4755845" y="5562234"/>
              <a:ext cx="6096000" cy="96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Ordinary Least Squares (OLS) regression, we aim to establish empirical links between keywords frequency (captured through textual analysis) and GII score &amp; HDI score index, offering evidence on how gender-oriented discourse translates into international index. 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306" name="Google Shape;306;p15"/>
          <p:cNvGraphicFramePr/>
          <p:nvPr/>
        </p:nvGraphicFramePr>
        <p:xfrm>
          <a:off x="541532" y="2445770"/>
          <a:ext cx="11151750" cy="4114950"/>
        </p:xfrm>
        <a:graphic>
          <a:graphicData uri="http://schemas.openxmlformats.org/drawingml/2006/table">
            <a:tbl>
              <a:tblPr>
                <a:noFill/>
                <a:tableStyleId>{337543C6-B601-45F2-AF5A-87857800B40B}</a:tableStyleId>
              </a:tblPr>
              <a:tblGrid>
                <a:gridCol w="680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3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3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4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8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7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78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15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51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887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586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910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0235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87465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831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9155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58310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4555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583100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1274175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99525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</a:tblGrid>
              <a:tr h="195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/>
                        <a:t>       Year</a:t>
                      </a:r>
                      <a:endParaRPr sz="10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/>
                        <a:t>gender</a:t>
                      </a:r>
                      <a:endParaRPr sz="10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/>
                        <a:t>disability</a:t>
                      </a:r>
                      <a:endParaRPr sz="10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/>
                        <a:t>aged </a:t>
                      </a:r>
                      <a:endParaRPr sz="10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/>
                        <a:t>health</a:t>
                      </a:r>
                      <a:endParaRPr sz="10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/>
                        <a:t>violence</a:t>
                      </a:r>
                      <a:endParaRPr sz="10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/>
                        <a:t>equality</a:t>
                      </a:r>
                      <a:endParaRPr sz="10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/>
                        <a:t>work</a:t>
                      </a:r>
                      <a:endParaRPr sz="10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/>
                        <a:t>pension</a:t>
                      </a:r>
                      <a:endParaRPr sz="10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/>
                        <a:t>family</a:t>
                      </a:r>
                      <a:endParaRPr sz="10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/>
                        <a:t>community</a:t>
                      </a:r>
                      <a:endParaRPr sz="10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/>
                        <a:t>indigenous</a:t>
                      </a:r>
                      <a:endParaRPr sz="10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/>
                        <a:t>rural</a:t>
                      </a:r>
                      <a:endParaRPr sz="10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/>
                        <a:t>child &amp; children</a:t>
                      </a:r>
                      <a:endParaRPr sz="10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/>
                        <a:t>parents</a:t>
                      </a:r>
                      <a:endParaRPr sz="10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/>
                        <a:t>men</a:t>
                      </a:r>
                      <a:endParaRPr sz="10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/>
                        <a:t>cares</a:t>
                      </a:r>
                      <a:endParaRPr sz="10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/>
                        <a:t>leave</a:t>
                      </a:r>
                      <a:endParaRPr sz="10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/>
                        <a:t>education</a:t>
                      </a:r>
                      <a:endParaRPr sz="10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/>
                        <a:t>economic, tax, income</a:t>
                      </a:r>
                      <a:endParaRPr sz="10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/>
                        <a:t>sexual</a:t>
                      </a:r>
                      <a:endParaRPr sz="10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9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1997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42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37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37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44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38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33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69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 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59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1998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72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58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70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50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66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 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59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1999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84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22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35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 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59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2000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26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 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59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2001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43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48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40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49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55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 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59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2002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57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15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 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59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2003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43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72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62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39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 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59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2004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 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59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2005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106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162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91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94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107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183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 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59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2006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 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59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2007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 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59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2008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45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21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16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48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12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 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59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2009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35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47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 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59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2010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50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37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33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43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56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 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59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2011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94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50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86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67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67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 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59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2012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56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54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43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115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51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42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44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62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 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959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2013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98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39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66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45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 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959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2021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151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146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121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101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129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 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959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2022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330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172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245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187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127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133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123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123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103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 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959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2023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253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 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 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191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173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112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152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 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 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 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 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 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95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 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91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113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 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 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103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/>
                        <a:t> 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50" marR="7650" marT="7650" marB="0" anchor="b"/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307" name="Google Shape;307;p15"/>
          <p:cNvSpPr/>
          <p:nvPr/>
        </p:nvSpPr>
        <p:spPr>
          <a:xfrm>
            <a:off x="0" y="0"/>
            <a:ext cx="3528600" cy="461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       Result: Regression</a:t>
            </a:r>
            <a:endParaRPr sz="160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6"/>
          <p:cNvSpPr txBox="1">
            <a:spLocks noGrp="1"/>
          </p:cNvSpPr>
          <p:nvPr>
            <p:ph type="title"/>
          </p:nvPr>
        </p:nvSpPr>
        <p:spPr>
          <a:xfrm>
            <a:off x="510200" y="618000"/>
            <a:ext cx="11072700" cy="9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000">
                <a:latin typeface="Impact"/>
                <a:ea typeface="Impact"/>
                <a:cs typeface="Impact"/>
                <a:sym typeface="Impact"/>
              </a:rPr>
              <a:t>Regression Result: Key-Word frequency as </a:t>
            </a:r>
            <a:r>
              <a:rPr lang="en-US" sz="3000">
                <a:solidFill>
                  <a:srgbClr val="568C11"/>
                </a:solidFill>
                <a:latin typeface="Impact"/>
                <a:ea typeface="Impact"/>
                <a:cs typeface="Impact"/>
                <a:sym typeface="Impact"/>
              </a:rPr>
              <a:t>Binary</a:t>
            </a:r>
            <a:endParaRPr sz="3000">
              <a:solidFill>
                <a:srgbClr val="568C1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313" name="Google Shape;313;p16" descr="A screenshot of a computer&#10;&#10;AI-generated content may be incorrect.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56078" y="1966767"/>
            <a:ext cx="5473200" cy="404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16" descr="A screenshot of a computer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10055" y="1966817"/>
            <a:ext cx="5953956" cy="4040912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16"/>
          <p:cNvSpPr/>
          <p:nvPr/>
        </p:nvSpPr>
        <p:spPr>
          <a:xfrm>
            <a:off x="0" y="0"/>
            <a:ext cx="3528600" cy="461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       Result: Regression</a:t>
            </a:r>
            <a:endParaRPr sz="160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7"/>
          <p:cNvSpPr txBox="1">
            <a:spLocks noGrp="1"/>
          </p:cNvSpPr>
          <p:nvPr>
            <p:ph type="title"/>
          </p:nvPr>
        </p:nvSpPr>
        <p:spPr>
          <a:xfrm>
            <a:off x="284850" y="675225"/>
            <a:ext cx="11622300" cy="7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000">
                <a:latin typeface="Impact"/>
                <a:ea typeface="Impact"/>
                <a:cs typeface="Impact"/>
                <a:sym typeface="Impact"/>
              </a:rPr>
              <a:t>Regression Result: Key-Word frequency as </a:t>
            </a:r>
            <a:r>
              <a:rPr lang="en-US" sz="3000">
                <a:solidFill>
                  <a:srgbClr val="568C11"/>
                </a:solidFill>
                <a:latin typeface="Impact"/>
                <a:ea typeface="Impact"/>
                <a:cs typeface="Impact"/>
                <a:sym typeface="Impact"/>
              </a:rPr>
              <a:t>Continuous </a:t>
            </a:r>
            <a:endParaRPr sz="3000">
              <a:solidFill>
                <a:srgbClr val="568C1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321" name="Google Shape;321;p17" descr="A screenshot of a computer&#10;&#10;AI-generated content may be incorrect.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r="5018"/>
          <a:stretch/>
        </p:blipFill>
        <p:spPr>
          <a:xfrm>
            <a:off x="221903" y="1895476"/>
            <a:ext cx="5854200" cy="410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17" descr="A screenshot of a computer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 r="3241"/>
          <a:stretch/>
        </p:blipFill>
        <p:spPr>
          <a:xfrm>
            <a:off x="6170200" y="1917658"/>
            <a:ext cx="5736955" cy="4062933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17"/>
          <p:cNvSpPr/>
          <p:nvPr/>
        </p:nvSpPr>
        <p:spPr>
          <a:xfrm>
            <a:off x="0" y="0"/>
            <a:ext cx="3528600" cy="461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       Result: Regression</a:t>
            </a:r>
            <a:endParaRPr sz="160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8" name="Google Shape;328;p13"/>
          <p:cNvGrpSpPr/>
          <p:nvPr/>
        </p:nvGrpSpPr>
        <p:grpSpPr>
          <a:xfrm>
            <a:off x="1527270" y="1666124"/>
            <a:ext cx="2384573" cy="2384573"/>
            <a:chOff x="4240335" y="3008435"/>
            <a:chExt cx="3711332" cy="3711332"/>
          </a:xfrm>
        </p:grpSpPr>
        <p:sp>
          <p:nvSpPr>
            <p:cNvPr id="329" name="Google Shape;329;p13"/>
            <p:cNvSpPr/>
            <p:nvPr/>
          </p:nvSpPr>
          <p:spPr>
            <a:xfrm>
              <a:off x="4240335" y="3008435"/>
              <a:ext cx="3711332" cy="3711332"/>
            </a:xfrm>
            <a:prstGeom prst="ellipse">
              <a:avLst/>
            </a:prstGeom>
            <a:gradFill>
              <a:gsLst>
                <a:gs pos="0">
                  <a:schemeClr val="lt1"/>
                </a:gs>
                <a:gs pos="100000">
                  <a:srgbClr val="BFBFBF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30" name="Google Shape;330;p13"/>
            <p:cNvGrpSpPr/>
            <p:nvPr/>
          </p:nvGrpSpPr>
          <p:grpSpPr>
            <a:xfrm>
              <a:off x="4710169" y="3478269"/>
              <a:ext cx="2771663" cy="2771663"/>
              <a:chOff x="2193191" y="1899415"/>
              <a:chExt cx="2421376" cy="2421376"/>
            </a:xfrm>
          </p:grpSpPr>
          <p:sp>
            <p:nvSpPr>
              <p:cNvPr id="331" name="Google Shape;331;p13"/>
              <p:cNvSpPr/>
              <p:nvPr/>
            </p:nvSpPr>
            <p:spPr>
              <a:xfrm>
                <a:off x="2193191" y="1899415"/>
                <a:ext cx="2421376" cy="2421376"/>
              </a:xfrm>
              <a:prstGeom prst="ellipse">
                <a:avLst/>
              </a:prstGeom>
              <a:solidFill>
                <a:schemeClr val="accent2"/>
              </a:solidFill>
              <a:ln w="31750" cap="flat" cmpd="sng">
                <a:solidFill>
                  <a:srgbClr val="BFBFB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5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" name="Google Shape;332;p13"/>
              <p:cNvSpPr/>
              <p:nvPr/>
            </p:nvSpPr>
            <p:spPr>
              <a:xfrm>
                <a:off x="2345502" y="2051726"/>
                <a:ext cx="2116756" cy="2116756"/>
              </a:xfrm>
              <a:prstGeom prst="ellipse">
                <a:avLst/>
              </a:prstGeom>
              <a:solidFill>
                <a:srgbClr val="F2F2F2"/>
              </a:solidFill>
              <a:ln>
                <a:noFill/>
              </a:ln>
              <a:effectLst>
                <a:outerShdw blurRad="152400" dist="63500" dir="2700000" algn="tl" rotWithShape="0">
                  <a:srgbClr val="568C11">
                    <a:alpha val="63921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5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33" name="Google Shape;333;p13"/>
          <p:cNvSpPr/>
          <p:nvPr/>
        </p:nvSpPr>
        <p:spPr>
          <a:xfrm>
            <a:off x="600" y="-348344"/>
            <a:ext cx="2718956" cy="7417183"/>
          </a:xfrm>
          <a:custGeom>
            <a:avLst/>
            <a:gdLst/>
            <a:ahLst/>
            <a:cxnLst/>
            <a:rect l="l" t="t" r="r" b="b"/>
            <a:pathLst>
              <a:path w="2837789" h="8001905" extrusionOk="0">
                <a:moveTo>
                  <a:pt x="0" y="0"/>
                </a:moveTo>
                <a:lnTo>
                  <a:pt x="2837788" y="0"/>
                </a:lnTo>
                <a:lnTo>
                  <a:pt x="2837788" y="1968500"/>
                </a:lnTo>
                <a:lnTo>
                  <a:pt x="2837789" y="1968500"/>
                </a:lnTo>
                <a:lnTo>
                  <a:pt x="2837789" y="2363879"/>
                </a:lnTo>
                <a:lnTo>
                  <a:pt x="2618085" y="2386026"/>
                </a:lnTo>
                <a:cubicBezTo>
                  <a:pt x="2121320" y="2487680"/>
                  <a:pt x="1747634" y="2927218"/>
                  <a:pt x="1747634" y="3454034"/>
                </a:cubicBezTo>
                <a:cubicBezTo>
                  <a:pt x="1747634" y="3980852"/>
                  <a:pt x="2121320" y="4420389"/>
                  <a:pt x="2618085" y="4522042"/>
                </a:cubicBezTo>
                <a:lnTo>
                  <a:pt x="2837789" y="4544190"/>
                </a:lnTo>
                <a:lnTo>
                  <a:pt x="2837789" y="6858000"/>
                </a:lnTo>
                <a:lnTo>
                  <a:pt x="2837788" y="6858000"/>
                </a:lnTo>
                <a:lnTo>
                  <a:pt x="2837788" y="8001905"/>
                </a:lnTo>
                <a:lnTo>
                  <a:pt x="0" y="8001905"/>
                </a:lnTo>
                <a:lnTo>
                  <a:pt x="0" y="6858000"/>
                </a:lnTo>
                <a:lnTo>
                  <a:pt x="0" y="6376305"/>
                </a:lnTo>
                <a:lnTo>
                  <a:pt x="0" y="2133600"/>
                </a:lnTo>
                <a:lnTo>
                  <a:pt x="0" y="19685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5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3"/>
          <p:cNvSpPr/>
          <p:nvPr/>
        </p:nvSpPr>
        <p:spPr>
          <a:xfrm>
            <a:off x="4002060" y="4379076"/>
            <a:ext cx="6838231" cy="42891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BFBFBF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5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3"/>
          <p:cNvSpPr txBox="1"/>
          <p:nvPr/>
        </p:nvSpPr>
        <p:spPr>
          <a:xfrm>
            <a:off x="5422600" y="4666250"/>
            <a:ext cx="3758100" cy="5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65">
                <a:solidFill>
                  <a:srgbClr val="3F3F3F"/>
                </a:solidFill>
                <a:latin typeface="Impact"/>
                <a:ea typeface="Impact"/>
                <a:cs typeface="Impact"/>
                <a:sym typeface="Impact"/>
              </a:rPr>
              <a:t>Conclusion &amp; Discussion</a:t>
            </a:r>
            <a:endParaRPr>
              <a:latin typeface="Impact"/>
              <a:ea typeface="Impact"/>
              <a:cs typeface="Impact"/>
              <a:sym typeface="Impact"/>
            </a:endParaRPr>
          </a:p>
        </p:txBody>
      </p:sp>
      <p:grpSp>
        <p:nvGrpSpPr>
          <p:cNvPr id="336" name="Google Shape;336;p13"/>
          <p:cNvGrpSpPr/>
          <p:nvPr/>
        </p:nvGrpSpPr>
        <p:grpSpPr>
          <a:xfrm>
            <a:off x="2383327" y="2490049"/>
            <a:ext cx="702937" cy="707692"/>
            <a:chOff x="5042691" y="2273920"/>
            <a:chExt cx="702937" cy="707692"/>
          </a:xfrm>
        </p:grpSpPr>
        <p:sp>
          <p:nvSpPr>
            <p:cNvPr id="337" name="Google Shape;337;p13"/>
            <p:cNvSpPr/>
            <p:nvPr/>
          </p:nvSpPr>
          <p:spPr>
            <a:xfrm>
              <a:off x="5284806" y="2789968"/>
              <a:ext cx="460822" cy="191644"/>
            </a:xfrm>
            <a:custGeom>
              <a:avLst/>
              <a:gdLst/>
              <a:ahLst/>
              <a:cxnLst/>
              <a:rect l="l" t="t" r="r" b="b"/>
              <a:pathLst>
                <a:path w="533" h="222" extrusionOk="0">
                  <a:moveTo>
                    <a:pt x="25" y="165"/>
                  </a:moveTo>
                  <a:cubicBezTo>
                    <a:pt x="158" y="165"/>
                    <a:pt x="158" y="165"/>
                    <a:pt x="158" y="165"/>
                  </a:cubicBezTo>
                  <a:cubicBezTo>
                    <a:pt x="158" y="108"/>
                    <a:pt x="158" y="108"/>
                    <a:pt x="158" y="108"/>
                  </a:cubicBezTo>
                  <a:cubicBezTo>
                    <a:pt x="158" y="94"/>
                    <a:pt x="170" y="83"/>
                    <a:pt x="184" y="83"/>
                  </a:cubicBezTo>
                  <a:cubicBezTo>
                    <a:pt x="317" y="83"/>
                    <a:pt x="317" y="83"/>
                    <a:pt x="317" y="83"/>
                  </a:cubicBezTo>
                  <a:cubicBezTo>
                    <a:pt x="317" y="25"/>
                    <a:pt x="317" y="25"/>
                    <a:pt x="317" y="25"/>
                  </a:cubicBezTo>
                  <a:cubicBezTo>
                    <a:pt x="317" y="11"/>
                    <a:pt x="329" y="0"/>
                    <a:pt x="343" y="0"/>
                  </a:cubicBezTo>
                  <a:cubicBezTo>
                    <a:pt x="533" y="0"/>
                    <a:pt x="533" y="0"/>
                    <a:pt x="533" y="0"/>
                  </a:cubicBezTo>
                  <a:cubicBezTo>
                    <a:pt x="533" y="32"/>
                    <a:pt x="533" y="32"/>
                    <a:pt x="533" y="32"/>
                  </a:cubicBezTo>
                  <a:cubicBezTo>
                    <a:pt x="533" y="46"/>
                    <a:pt x="522" y="57"/>
                    <a:pt x="508" y="57"/>
                  </a:cubicBezTo>
                  <a:cubicBezTo>
                    <a:pt x="375" y="57"/>
                    <a:pt x="375" y="57"/>
                    <a:pt x="375" y="57"/>
                  </a:cubicBezTo>
                  <a:cubicBezTo>
                    <a:pt x="375" y="114"/>
                    <a:pt x="375" y="114"/>
                    <a:pt x="375" y="114"/>
                  </a:cubicBezTo>
                  <a:cubicBezTo>
                    <a:pt x="375" y="128"/>
                    <a:pt x="363" y="140"/>
                    <a:pt x="349" y="140"/>
                  </a:cubicBezTo>
                  <a:cubicBezTo>
                    <a:pt x="216" y="140"/>
                    <a:pt x="216" y="140"/>
                    <a:pt x="216" y="140"/>
                  </a:cubicBezTo>
                  <a:cubicBezTo>
                    <a:pt x="216" y="197"/>
                    <a:pt x="216" y="197"/>
                    <a:pt x="216" y="197"/>
                  </a:cubicBezTo>
                  <a:cubicBezTo>
                    <a:pt x="216" y="211"/>
                    <a:pt x="204" y="222"/>
                    <a:pt x="190" y="222"/>
                  </a:cubicBezTo>
                  <a:cubicBezTo>
                    <a:pt x="0" y="222"/>
                    <a:pt x="0" y="222"/>
                    <a:pt x="0" y="222"/>
                  </a:cubicBezTo>
                  <a:cubicBezTo>
                    <a:pt x="0" y="191"/>
                    <a:pt x="0" y="191"/>
                    <a:pt x="0" y="191"/>
                  </a:cubicBezTo>
                  <a:cubicBezTo>
                    <a:pt x="0" y="177"/>
                    <a:pt x="11" y="165"/>
                    <a:pt x="25" y="16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60950" rIns="121900" bIns="609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" name="Google Shape;338;p13"/>
            <p:cNvSpPr/>
            <p:nvPr/>
          </p:nvSpPr>
          <p:spPr>
            <a:xfrm>
              <a:off x="5042691" y="2273920"/>
              <a:ext cx="529214" cy="655758"/>
            </a:xfrm>
            <a:custGeom>
              <a:avLst/>
              <a:gdLst/>
              <a:ahLst/>
              <a:cxnLst/>
              <a:rect l="l" t="t" r="r" b="b"/>
              <a:pathLst>
                <a:path w="612" h="759" extrusionOk="0">
                  <a:moveTo>
                    <a:pt x="28" y="504"/>
                  </a:moveTo>
                  <a:cubicBezTo>
                    <a:pt x="148" y="514"/>
                    <a:pt x="148" y="514"/>
                    <a:pt x="148" y="514"/>
                  </a:cubicBezTo>
                  <a:cubicBezTo>
                    <a:pt x="164" y="516"/>
                    <a:pt x="177" y="504"/>
                    <a:pt x="179" y="488"/>
                  </a:cubicBezTo>
                  <a:cubicBezTo>
                    <a:pt x="184" y="423"/>
                    <a:pt x="184" y="423"/>
                    <a:pt x="184" y="423"/>
                  </a:cubicBezTo>
                  <a:cubicBezTo>
                    <a:pt x="186" y="407"/>
                    <a:pt x="174" y="393"/>
                    <a:pt x="158" y="392"/>
                  </a:cubicBezTo>
                  <a:cubicBezTo>
                    <a:pt x="38" y="381"/>
                    <a:pt x="38" y="381"/>
                    <a:pt x="38" y="381"/>
                  </a:cubicBezTo>
                  <a:cubicBezTo>
                    <a:pt x="23" y="380"/>
                    <a:pt x="9" y="392"/>
                    <a:pt x="7" y="407"/>
                  </a:cubicBezTo>
                  <a:cubicBezTo>
                    <a:pt x="2" y="473"/>
                    <a:pt x="2" y="473"/>
                    <a:pt x="2" y="473"/>
                  </a:cubicBezTo>
                  <a:cubicBezTo>
                    <a:pt x="0" y="489"/>
                    <a:pt x="12" y="503"/>
                    <a:pt x="28" y="504"/>
                  </a:cubicBezTo>
                  <a:close/>
                  <a:moveTo>
                    <a:pt x="157" y="669"/>
                  </a:moveTo>
                  <a:cubicBezTo>
                    <a:pt x="220" y="595"/>
                    <a:pt x="230" y="592"/>
                    <a:pt x="254" y="487"/>
                  </a:cubicBezTo>
                  <a:cubicBezTo>
                    <a:pt x="280" y="496"/>
                    <a:pt x="307" y="504"/>
                    <a:pt x="334" y="512"/>
                  </a:cubicBezTo>
                  <a:cubicBezTo>
                    <a:pt x="337" y="513"/>
                    <a:pt x="339" y="514"/>
                    <a:pt x="342" y="515"/>
                  </a:cubicBezTo>
                  <a:cubicBezTo>
                    <a:pt x="303" y="633"/>
                    <a:pt x="296" y="637"/>
                    <a:pt x="216" y="722"/>
                  </a:cubicBezTo>
                  <a:cubicBezTo>
                    <a:pt x="180" y="759"/>
                    <a:pt x="122" y="709"/>
                    <a:pt x="157" y="669"/>
                  </a:cubicBezTo>
                  <a:close/>
                  <a:moveTo>
                    <a:pt x="379" y="7"/>
                  </a:moveTo>
                  <a:cubicBezTo>
                    <a:pt x="413" y="15"/>
                    <a:pt x="434" y="49"/>
                    <a:pt x="426" y="84"/>
                  </a:cubicBezTo>
                  <a:cubicBezTo>
                    <a:pt x="419" y="120"/>
                    <a:pt x="383" y="157"/>
                    <a:pt x="349" y="150"/>
                  </a:cubicBezTo>
                  <a:cubicBezTo>
                    <a:pt x="315" y="143"/>
                    <a:pt x="297" y="94"/>
                    <a:pt x="304" y="59"/>
                  </a:cubicBezTo>
                  <a:cubicBezTo>
                    <a:pt x="312" y="23"/>
                    <a:pt x="345" y="0"/>
                    <a:pt x="379" y="7"/>
                  </a:cubicBezTo>
                  <a:close/>
                  <a:moveTo>
                    <a:pt x="371" y="183"/>
                  </a:moveTo>
                  <a:cubicBezTo>
                    <a:pt x="378" y="185"/>
                    <a:pt x="393" y="190"/>
                    <a:pt x="403" y="199"/>
                  </a:cubicBezTo>
                  <a:cubicBezTo>
                    <a:pt x="494" y="286"/>
                    <a:pt x="474" y="282"/>
                    <a:pt x="574" y="278"/>
                  </a:cubicBezTo>
                  <a:cubicBezTo>
                    <a:pt x="612" y="277"/>
                    <a:pt x="611" y="338"/>
                    <a:pt x="579" y="341"/>
                  </a:cubicBezTo>
                  <a:cubicBezTo>
                    <a:pt x="477" y="350"/>
                    <a:pt x="470" y="358"/>
                    <a:pt x="398" y="296"/>
                  </a:cubicBezTo>
                  <a:cubicBezTo>
                    <a:pt x="381" y="385"/>
                    <a:pt x="381" y="385"/>
                    <a:pt x="381" y="385"/>
                  </a:cubicBezTo>
                  <a:cubicBezTo>
                    <a:pt x="380" y="392"/>
                    <a:pt x="383" y="399"/>
                    <a:pt x="390" y="402"/>
                  </a:cubicBezTo>
                  <a:cubicBezTo>
                    <a:pt x="494" y="448"/>
                    <a:pt x="515" y="448"/>
                    <a:pt x="561" y="593"/>
                  </a:cubicBezTo>
                  <a:cubicBezTo>
                    <a:pt x="578" y="638"/>
                    <a:pt x="510" y="668"/>
                    <a:pt x="489" y="626"/>
                  </a:cubicBezTo>
                  <a:cubicBezTo>
                    <a:pt x="417" y="484"/>
                    <a:pt x="405" y="506"/>
                    <a:pt x="233" y="447"/>
                  </a:cubicBezTo>
                  <a:cubicBezTo>
                    <a:pt x="211" y="435"/>
                    <a:pt x="203" y="416"/>
                    <a:pt x="203" y="392"/>
                  </a:cubicBezTo>
                  <a:cubicBezTo>
                    <a:pt x="231" y="239"/>
                    <a:pt x="231" y="239"/>
                    <a:pt x="231" y="239"/>
                  </a:cubicBezTo>
                  <a:cubicBezTo>
                    <a:pt x="164" y="260"/>
                    <a:pt x="171" y="259"/>
                    <a:pt x="157" y="344"/>
                  </a:cubicBezTo>
                  <a:cubicBezTo>
                    <a:pt x="151" y="376"/>
                    <a:pt x="91" y="372"/>
                    <a:pt x="95" y="332"/>
                  </a:cubicBezTo>
                  <a:cubicBezTo>
                    <a:pt x="107" y="207"/>
                    <a:pt x="126" y="199"/>
                    <a:pt x="247" y="155"/>
                  </a:cubicBezTo>
                  <a:cubicBezTo>
                    <a:pt x="264" y="149"/>
                    <a:pt x="304" y="160"/>
                    <a:pt x="313" y="163"/>
                  </a:cubicBezTo>
                  <a:cubicBezTo>
                    <a:pt x="349" y="227"/>
                    <a:pt x="349" y="227"/>
                    <a:pt x="349" y="227"/>
                  </a:cubicBezTo>
                  <a:cubicBezTo>
                    <a:pt x="371" y="183"/>
                    <a:pt x="371" y="183"/>
                    <a:pt x="371" y="18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60950" rIns="121900" bIns="609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9" name="Google Shape;339;p13"/>
          <p:cNvSpPr txBox="1"/>
          <p:nvPr/>
        </p:nvSpPr>
        <p:spPr>
          <a:xfrm>
            <a:off x="4375562" y="2112327"/>
            <a:ext cx="48051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>
                <a:solidFill>
                  <a:schemeClr val="accent2"/>
                </a:solidFill>
                <a:latin typeface="Impact"/>
                <a:ea typeface="Impact"/>
                <a:cs typeface="Impact"/>
                <a:sym typeface="Impact"/>
              </a:rPr>
              <a:t>PART   04</a:t>
            </a:r>
            <a:endParaRPr>
              <a:solidFill>
                <a:schemeClr val="accent2"/>
              </a:solidFill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acbed7db4e_0_30"/>
          <p:cNvSpPr txBox="1">
            <a:spLocks noGrp="1"/>
          </p:cNvSpPr>
          <p:nvPr>
            <p:ph type="title"/>
          </p:nvPr>
        </p:nvSpPr>
        <p:spPr>
          <a:xfrm>
            <a:off x="838200" y="674125"/>
            <a:ext cx="10515600" cy="1200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b="1">
                <a:solidFill>
                  <a:srgbClr val="0070C0"/>
                </a:solidFill>
              </a:rPr>
              <a:t>RQ 1. </a:t>
            </a:r>
            <a:r>
              <a:rPr lang="en-US" sz="2800"/>
              <a:t>How have policy targets, program areas, and thematic priorities in the Women’s Budget Statements evolved between 1984 and 2025?</a:t>
            </a:r>
            <a:endParaRPr sz="2800"/>
          </a:p>
        </p:txBody>
      </p:sp>
      <p:sp>
        <p:nvSpPr>
          <p:cNvPr id="346" name="Google Shape;346;g3acbed7db4e_0_30"/>
          <p:cNvSpPr txBox="1">
            <a:spLocks noGrp="1"/>
          </p:cNvSpPr>
          <p:nvPr>
            <p:ph type="body" idx="1"/>
          </p:nvPr>
        </p:nvSpPr>
        <p:spPr>
          <a:xfrm>
            <a:off x="1166250" y="1953875"/>
            <a:ext cx="10187700" cy="468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Core Continuous theme: </a:t>
            </a:r>
            <a:r>
              <a:rPr lang="en-US" sz="2400" b="1">
                <a:solidFill>
                  <a:srgbClr val="0070C0"/>
                </a:solidFill>
              </a:rPr>
              <a:t>Social Services</a:t>
            </a:r>
            <a:endParaRPr sz="2400" b="1">
              <a:solidFill>
                <a:srgbClr val="0070C0"/>
              </a:solidFill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Across the entire period, WBS consistently emphasized </a:t>
            </a:r>
            <a:r>
              <a:rPr lang="en-US" sz="2000">
                <a:solidFill>
                  <a:srgbClr val="0070C0"/>
                </a:solidFill>
              </a:rPr>
              <a:t>women’s access to care, health, and national support programs.</a:t>
            </a:r>
            <a:endParaRPr sz="2000">
              <a:solidFill>
                <a:srgbClr val="0070C0"/>
              </a:solidFill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Increased Focus on Gender-Based Violence</a:t>
            </a:r>
            <a:endParaRPr sz="240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Mentions of </a:t>
            </a:r>
            <a:r>
              <a:rPr lang="en-US" sz="2000">
                <a:solidFill>
                  <a:srgbClr val="0070C0"/>
                </a:solidFill>
              </a:rPr>
              <a:t>violence</a:t>
            </a:r>
            <a:r>
              <a:rPr lang="en-US" sz="2000"/>
              <a:t> increased significantly from 2008 and peaked after 2021.</a:t>
            </a:r>
            <a:endParaRPr sz="2000"/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Shifts in Framing During the Early 2000s</a:t>
            </a:r>
            <a:endParaRPr sz="240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Reflected a more</a:t>
            </a:r>
            <a:r>
              <a:rPr lang="en-US" sz="2000">
                <a:solidFill>
                  <a:srgbClr val="0070C0"/>
                </a:solidFill>
              </a:rPr>
              <a:t> conservative, localized, and household-oriented approach</a:t>
            </a:r>
            <a:r>
              <a:rPr lang="en-US" sz="2000"/>
              <a:t> to gender equity.</a:t>
            </a:r>
            <a:endParaRPr sz="2000"/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Limited Emphasis on Economic Participation</a:t>
            </a:r>
            <a:endParaRPr sz="240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Labor market equality was</a:t>
            </a:r>
            <a:r>
              <a:rPr lang="en-US" sz="2000">
                <a:solidFill>
                  <a:srgbClr val="0070C0"/>
                </a:solidFill>
              </a:rPr>
              <a:t> not </a:t>
            </a:r>
            <a:r>
              <a:rPr lang="en-US" sz="2000"/>
              <a:t>the central rhetorical focus across most years.</a:t>
            </a:r>
            <a:endParaRPr sz="2000"/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Discontinuation Period: 2014–2020</a:t>
            </a:r>
            <a:endParaRPr sz="2400"/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Reinstatement and Reintensification: Post-2021</a:t>
            </a:r>
            <a:endParaRPr sz="240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More institutionalized, metric-driven approach aligned with public accountability.</a:t>
            </a:r>
            <a:endParaRPr sz="2000"/>
          </a:p>
        </p:txBody>
      </p:sp>
      <p:sp>
        <p:nvSpPr>
          <p:cNvPr id="347" name="Google Shape;347;g3acbed7db4e_0_30"/>
          <p:cNvSpPr/>
          <p:nvPr/>
        </p:nvSpPr>
        <p:spPr>
          <a:xfrm>
            <a:off x="0" y="0"/>
            <a:ext cx="3528600" cy="46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       Conclusion &amp; Discussion</a:t>
            </a:r>
            <a:endParaRPr sz="160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acbed7db4e_0_36"/>
          <p:cNvSpPr txBox="1">
            <a:spLocks noGrp="1"/>
          </p:cNvSpPr>
          <p:nvPr>
            <p:ph type="title"/>
          </p:nvPr>
        </p:nvSpPr>
        <p:spPr>
          <a:xfrm>
            <a:off x="858300" y="594088"/>
            <a:ext cx="10764600" cy="913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0070C0"/>
                </a:solidFill>
              </a:rPr>
              <a:t>RQ 2.</a:t>
            </a:r>
            <a:r>
              <a:rPr lang="en-US" sz="2800"/>
              <a:t> What is the relationship between changes in the Women’s Budget Statements’ topic focus and changes in the GII and HDI in Australia?  </a:t>
            </a:r>
            <a:endParaRPr sz="2800"/>
          </a:p>
        </p:txBody>
      </p:sp>
      <p:sp>
        <p:nvSpPr>
          <p:cNvPr id="354" name="Google Shape;354;g3acbed7db4e_0_36"/>
          <p:cNvSpPr txBox="1">
            <a:spLocks noGrp="1"/>
          </p:cNvSpPr>
          <p:nvPr>
            <p:ph type="body" idx="1"/>
          </p:nvPr>
        </p:nvSpPr>
        <p:spPr>
          <a:xfrm>
            <a:off x="588900" y="1639675"/>
            <a:ext cx="11163300" cy="4998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●"/>
            </a:pPr>
            <a:r>
              <a:rPr lang="en-US" sz="1900" b="1">
                <a:latin typeface="Arial"/>
                <a:ea typeface="Arial"/>
                <a:cs typeface="Arial"/>
                <a:sym typeface="Arial"/>
              </a:rPr>
              <a:t>Binary models</a:t>
            </a:r>
            <a:endParaRPr sz="1900" b="1">
              <a:latin typeface="Arial"/>
              <a:ea typeface="Arial"/>
              <a:cs typeface="Arial"/>
              <a:sym typeface="Arial"/>
            </a:endParaRPr>
          </a:p>
          <a:p>
            <a:pPr marL="914400" lvl="1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No significant association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●"/>
            </a:pPr>
            <a:r>
              <a:rPr lang="en-US" sz="1900" b="1">
                <a:latin typeface="Arial"/>
                <a:ea typeface="Arial"/>
                <a:cs typeface="Arial"/>
                <a:sym typeface="Arial"/>
              </a:rPr>
              <a:t>Continuous models:</a:t>
            </a:r>
            <a:endParaRPr sz="1900" b="1">
              <a:latin typeface="Arial"/>
              <a:ea typeface="Arial"/>
              <a:cs typeface="Arial"/>
              <a:sym typeface="Arial"/>
            </a:endParaRPr>
          </a:p>
          <a:p>
            <a:pPr marL="914400" lvl="1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-US" sz="1900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Overall linkages </a:t>
            </a:r>
            <a:r>
              <a:rPr lang="en-US" sz="1900">
                <a:latin typeface="Arial"/>
                <a:ea typeface="Arial"/>
                <a:cs typeface="Arial"/>
                <a:sym typeface="Arial"/>
              </a:rPr>
              <a:t>between keyword intensity and national outcomes are </a:t>
            </a:r>
            <a:r>
              <a:rPr lang="en-US" sz="1900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weak and selective</a:t>
            </a:r>
            <a:r>
              <a:rPr lang="en-US" sz="1900">
                <a:latin typeface="Arial"/>
                <a:ea typeface="Arial"/>
                <a:cs typeface="Arial"/>
                <a:sym typeface="Arial"/>
              </a:rPr>
              <a:t>.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marL="914400" lvl="1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-US" sz="1900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“Health” frequency</a:t>
            </a:r>
            <a:r>
              <a:rPr lang="en-US" sz="1900">
                <a:latin typeface="Arial"/>
                <a:ea typeface="Arial"/>
                <a:cs typeface="Arial"/>
                <a:sym typeface="Arial"/>
              </a:rPr>
              <a:t> is the only keyword</a:t>
            </a:r>
            <a:r>
              <a:rPr lang="en-US" sz="1900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significantly associated </a:t>
            </a:r>
            <a:r>
              <a:rPr lang="en-US" sz="1900">
                <a:latin typeface="Arial"/>
                <a:ea typeface="Arial"/>
                <a:cs typeface="Arial"/>
                <a:sym typeface="Arial"/>
              </a:rPr>
              <a:t>with </a:t>
            </a:r>
            <a:r>
              <a:rPr lang="en-US" sz="1900" b="1">
                <a:latin typeface="Arial"/>
                <a:ea typeface="Arial"/>
                <a:cs typeface="Arial"/>
                <a:sym typeface="Arial"/>
              </a:rPr>
              <a:t>GII</a:t>
            </a:r>
            <a:r>
              <a:rPr lang="en-US" sz="1900">
                <a:latin typeface="Arial"/>
                <a:ea typeface="Arial"/>
                <a:cs typeface="Arial"/>
                <a:sym typeface="Arial"/>
              </a:rPr>
              <a:t> (p = 0.046): health-focused discourse aligns more closely with shifts in gender inequality.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marL="914400" lvl="1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-US" sz="1900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Party change</a:t>
            </a:r>
            <a:r>
              <a:rPr lang="en-US" sz="1900">
                <a:latin typeface="Arial"/>
                <a:ea typeface="Arial"/>
                <a:cs typeface="Arial"/>
                <a:sym typeface="Arial"/>
              </a:rPr>
              <a:t> shows a </a:t>
            </a:r>
            <a:r>
              <a:rPr lang="en-US" sz="1900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marginal association</a:t>
            </a:r>
            <a:r>
              <a:rPr lang="en-US" sz="1900" b="1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00">
                <a:latin typeface="Arial"/>
                <a:ea typeface="Arial"/>
                <a:cs typeface="Arial"/>
                <a:sym typeface="Arial"/>
              </a:rPr>
              <a:t>with</a:t>
            </a:r>
            <a:r>
              <a:rPr lang="en-US" sz="1900" b="1">
                <a:latin typeface="Arial"/>
                <a:ea typeface="Arial"/>
                <a:cs typeface="Arial"/>
                <a:sym typeface="Arial"/>
              </a:rPr>
              <a:t> HDI</a:t>
            </a:r>
            <a:r>
              <a:rPr lang="en-US" sz="1900">
                <a:latin typeface="Arial"/>
                <a:ea typeface="Arial"/>
                <a:cs typeface="Arial"/>
                <a:sym typeface="Arial"/>
              </a:rPr>
              <a:t> (p ≈ 0.10): institutional or ideological differences may shape reporting emphasis and framing.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 b="1">
                <a:latin typeface="Arial"/>
                <a:ea typeface="Arial"/>
                <a:cs typeface="Arial"/>
                <a:sym typeface="Arial"/>
              </a:rPr>
              <a:t>Overall</a:t>
            </a:r>
            <a:endParaRPr sz="1900" b="1">
              <a:latin typeface="Arial"/>
              <a:ea typeface="Arial"/>
              <a:cs typeface="Arial"/>
              <a:sym typeface="Arial"/>
            </a:endParaRPr>
          </a:p>
          <a:p>
            <a:pPr marL="914400" lvl="1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WBS reflects evolving policy narratives but</a:t>
            </a:r>
            <a:r>
              <a:rPr lang="en-US" sz="19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00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only weakly maps onto international gender equity trends</a:t>
            </a:r>
            <a:r>
              <a:rPr lang="en-US" sz="19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9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-US" sz="1900" b="1">
                <a:latin typeface="Arial"/>
                <a:ea typeface="Arial"/>
                <a:cs typeface="Arial"/>
                <a:sym typeface="Arial"/>
              </a:rPr>
              <a:t>Specific themes (e.g., health) show alignment</a:t>
            </a:r>
            <a:r>
              <a:rPr lang="en-US" sz="1900">
                <a:latin typeface="Arial"/>
                <a:ea typeface="Arial"/>
                <a:cs typeface="Arial"/>
                <a:sym typeface="Arial"/>
              </a:rPr>
              <a:t>, but broader discourse shifts </a:t>
            </a:r>
            <a:r>
              <a:rPr lang="en-US" sz="1900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do</a:t>
            </a:r>
            <a:r>
              <a:rPr lang="en-US" sz="19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00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not reliably predict national progress</a:t>
            </a:r>
            <a:r>
              <a:rPr lang="en-US" sz="1900">
                <a:latin typeface="Arial"/>
                <a:ea typeface="Arial"/>
                <a:cs typeface="Arial"/>
                <a:sym typeface="Arial"/>
              </a:rPr>
              <a:t>, highlighting gaps between communication, resource delivery, and social outcomes.</a:t>
            </a:r>
            <a:endParaRPr sz="1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g3acbed7db4e_0_36"/>
          <p:cNvSpPr/>
          <p:nvPr/>
        </p:nvSpPr>
        <p:spPr>
          <a:xfrm>
            <a:off x="0" y="0"/>
            <a:ext cx="3528600" cy="46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       Conclusion &amp; Discussion</a:t>
            </a:r>
            <a:endParaRPr sz="160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acbed7db4e_11_8"/>
          <p:cNvSpPr txBox="1">
            <a:spLocks noGrp="1"/>
          </p:cNvSpPr>
          <p:nvPr>
            <p:ph type="title"/>
          </p:nvPr>
        </p:nvSpPr>
        <p:spPr>
          <a:xfrm>
            <a:off x="838200" y="867225"/>
            <a:ext cx="10764600" cy="1598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0070C0"/>
                </a:solidFill>
              </a:rPr>
              <a:t>RQ 3.</a:t>
            </a:r>
            <a:r>
              <a:rPr lang="en-US" sz="2800"/>
              <a:t> To what extent do shifts in the content and focus of the Women’s Budget Statements correspond with broader trends in gender equity, as measured by international indices?</a:t>
            </a:r>
            <a:endParaRPr sz="2800"/>
          </a:p>
        </p:txBody>
      </p:sp>
      <p:sp>
        <p:nvSpPr>
          <p:cNvPr id="362" name="Google Shape;362;g3acbed7db4e_11_8"/>
          <p:cNvSpPr txBox="1">
            <a:spLocks noGrp="1"/>
          </p:cNvSpPr>
          <p:nvPr>
            <p:ph type="body" idx="1"/>
          </p:nvPr>
        </p:nvSpPr>
        <p:spPr>
          <a:xfrm>
            <a:off x="1196175" y="2651500"/>
            <a:ext cx="9828600" cy="3525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Text patterns </a:t>
            </a:r>
            <a:r>
              <a:rPr lang="en-US" sz="2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partially align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 with movements in gender equality indicators, though links appear indirect and complex.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Overall, WBS serves as both a policy tool and a reflection of broader social and political priorities on gender issues in </a:t>
            </a:r>
            <a:r>
              <a:rPr lang="en-US" sz="2400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Australian context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.</a:t>
            </a:r>
            <a:endParaRPr sz="2400"/>
          </a:p>
        </p:txBody>
      </p:sp>
      <p:sp>
        <p:nvSpPr>
          <p:cNvPr id="363" name="Google Shape;363;g3acbed7db4e_11_8"/>
          <p:cNvSpPr/>
          <p:nvPr/>
        </p:nvSpPr>
        <p:spPr>
          <a:xfrm>
            <a:off x="0" y="0"/>
            <a:ext cx="3528600" cy="46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       Conclusion &amp; Discussion</a:t>
            </a:r>
            <a:endParaRPr sz="160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acbed7db4e_2_1"/>
          <p:cNvSpPr txBox="1">
            <a:spLocks noGrp="1"/>
          </p:cNvSpPr>
          <p:nvPr>
            <p:ph type="body" idx="4294967295"/>
          </p:nvPr>
        </p:nvSpPr>
        <p:spPr>
          <a:xfrm>
            <a:off x="3606589" y="980105"/>
            <a:ext cx="4978800" cy="5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3400">
                <a:latin typeface="Impact"/>
                <a:ea typeface="Impact"/>
                <a:cs typeface="Impact"/>
                <a:sym typeface="Impact"/>
              </a:rPr>
              <a:t>Limitations</a:t>
            </a:r>
            <a:endParaRPr sz="3400"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70" name="Google Shape;370;g3acbed7db4e_2_1"/>
          <p:cNvSpPr txBox="1"/>
          <p:nvPr/>
        </p:nvSpPr>
        <p:spPr>
          <a:xfrm>
            <a:off x="557432" y="1615251"/>
            <a:ext cx="184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g3acbed7db4e_2_1"/>
          <p:cNvSpPr/>
          <p:nvPr/>
        </p:nvSpPr>
        <p:spPr>
          <a:xfrm>
            <a:off x="768000" y="1883950"/>
            <a:ext cx="10656000" cy="42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93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libri"/>
              <a:buChar char="●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Missing Data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○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Women’s Budget Statement: 2004 (Hard Copy only) &amp; 2007 (Unidentified)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■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old documents were PDF files in image format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alibri"/>
              <a:buChar char="○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International indices cover short time periods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Coverage of Selected Variables in International Indices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alibri"/>
              <a:buChar char="○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GII: </a:t>
            </a:r>
            <a:r>
              <a:rPr lang="en-US" sz="24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Maternal mortality ratio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&amp; </a:t>
            </a:r>
            <a:r>
              <a:rPr lang="en-US" sz="24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adolescent birth rates; Percentage of seats held by women in parliament</a:t>
            </a:r>
            <a:endParaRPr sz="24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○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HDI</a:t>
            </a:r>
            <a:r>
              <a:rPr lang="en-US" sz="24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Expected years of schooling for children &amp; mean years of schooling for adults.</a:t>
            </a:r>
            <a:endParaRPr sz="24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Federal levels' WBS might not cover the details of gender-responsive policies.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28600" algn="l" rtl="0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g3acbed7db4e_2_1"/>
          <p:cNvSpPr/>
          <p:nvPr/>
        </p:nvSpPr>
        <p:spPr>
          <a:xfrm>
            <a:off x="0" y="0"/>
            <a:ext cx="3528600" cy="46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       Conclusion &amp; Discussion</a:t>
            </a:r>
            <a:endParaRPr sz="160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acbed7db4e_8_15"/>
          <p:cNvSpPr txBox="1">
            <a:spLocks noGrp="1"/>
          </p:cNvSpPr>
          <p:nvPr>
            <p:ph type="body" idx="4294967295"/>
          </p:nvPr>
        </p:nvSpPr>
        <p:spPr>
          <a:xfrm>
            <a:off x="4394251" y="1028300"/>
            <a:ext cx="3403500" cy="5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3400">
                <a:latin typeface="Impact"/>
                <a:ea typeface="Impact"/>
                <a:cs typeface="Impact"/>
                <a:sym typeface="Impact"/>
              </a:rPr>
              <a:t>Future Research</a:t>
            </a:r>
            <a:endParaRPr sz="3400"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79" name="Google Shape;379;g3acbed7db4e_8_15"/>
          <p:cNvSpPr txBox="1"/>
          <p:nvPr/>
        </p:nvSpPr>
        <p:spPr>
          <a:xfrm>
            <a:off x="557432" y="1615251"/>
            <a:ext cx="184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g3acbed7db4e_8_15"/>
          <p:cNvSpPr/>
          <p:nvPr/>
        </p:nvSpPr>
        <p:spPr>
          <a:xfrm>
            <a:off x="2063375" y="2143125"/>
            <a:ext cx="8628000" cy="27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Prefered Qualitative research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○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Country-specific context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○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Case study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State / Territory levels &amp; Local levels of WBS in Australia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Other developing countries’ GRB reports &amp; International Indices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28600" algn="l" rtl="0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g3acbed7db4e_8_15"/>
          <p:cNvSpPr/>
          <p:nvPr/>
        </p:nvSpPr>
        <p:spPr>
          <a:xfrm>
            <a:off x="0" y="0"/>
            <a:ext cx="3528600" cy="46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       Conclusion &amp; Discussion</a:t>
            </a:r>
            <a:endParaRPr sz="160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6" name="Google Shape;386;p18"/>
          <p:cNvGrpSpPr/>
          <p:nvPr/>
        </p:nvGrpSpPr>
        <p:grpSpPr>
          <a:xfrm>
            <a:off x="0" y="6655442"/>
            <a:ext cx="12192000" cy="202557"/>
            <a:chOff x="0" y="1371600"/>
            <a:chExt cx="12192000" cy="1371600"/>
          </a:xfrm>
        </p:grpSpPr>
        <p:sp>
          <p:nvSpPr>
            <p:cNvPr id="387" name="Google Shape;387;p18"/>
            <p:cNvSpPr/>
            <p:nvPr/>
          </p:nvSpPr>
          <p:spPr>
            <a:xfrm>
              <a:off x="1524000" y="1371600"/>
              <a:ext cx="1524000" cy="13716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" name="Google Shape;388;p18"/>
            <p:cNvSpPr/>
            <p:nvPr/>
          </p:nvSpPr>
          <p:spPr>
            <a:xfrm>
              <a:off x="9144000" y="1371600"/>
              <a:ext cx="1524000" cy="1371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" name="Google Shape;389;p18"/>
            <p:cNvSpPr/>
            <p:nvPr/>
          </p:nvSpPr>
          <p:spPr>
            <a:xfrm>
              <a:off x="10668000" y="1371600"/>
              <a:ext cx="1524000" cy="1371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" name="Google Shape;390;p18"/>
            <p:cNvSpPr/>
            <p:nvPr/>
          </p:nvSpPr>
          <p:spPr>
            <a:xfrm>
              <a:off x="0" y="1371600"/>
              <a:ext cx="1524000" cy="1371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" name="Google Shape;391;p18"/>
            <p:cNvSpPr/>
            <p:nvPr/>
          </p:nvSpPr>
          <p:spPr>
            <a:xfrm>
              <a:off x="6096000" y="1371600"/>
              <a:ext cx="1524000" cy="1371600"/>
            </a:xfrm>
            <a:prstGeom prst="rect">
              <a:avLst/>
            </a:prstGeom>
            <a:solidFill>
              <a:srgbClr val="B2D2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" name="Google Shape;392;p18"/>
            <p:cNvSpPr/>
            <p:nvPr/>
          </p:nvSpPr>
          <p:spPr>
            <a:xfrm>
              <a:off x="3048000" y="1371600"/>
              <a:ext cx="1524000" cy="1371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" name="Google Shape;393;p18"/>
            <p:cNvSpPr/>
            <p:nvPr/>
          </p:nvSpPr>
          <p:spPr>
            <a:xfrm>
              <a:off x="7620000" y="1371600"/>
              <a:ext cx="1524000" cy="13716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" name="Google Shape;394;p18"/>
            <p:cNvSpPr/>
            <p:nvPr/>
          </p:nvSpPr>
          <p:spPr>
            <a:xfrm>
              <a:off x="4572000" y="1371600"/>
              <a:ext cx="1524000" cy="1371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5" name="Google Shape;395;p18"/>
          <p:cNvSpPr/>
          <p:nvPr/>
        </p:nvSpPr>
        <p:spPr>
          <a:xfrm rot="10800000" flipH="1">
            <a:off x="4842297" y="-16913"/>
            <a:ext cx="2507406" cy="1192788"/>
          </a:xfrm>
          <a:custGeom>
            <a:avLst/>
            <a:gdLst/>
            <a:ahLst/>
            <a:cxnLst/>
            <a:rect l="l" t="t" r="r" b="b"/>
            <a:pathLst>
              <a:path w="2185602" h="1104977" extrusionOk="0">
                <a:moveTo>
                  <a:pt x="1092801" y="0"/>
                </a:moveTo>
                <a:cubicBezTo>
                  <a:pt x="1696338" y="0"/>
                  <a:pt x="2185602" y="489264"/>
                  <a:pt x="2185602" y="1092801"/>
                </a:cubicBezTo>
                <a:lnTo>
                  <a:pt x="2184987" y="1104977"/>
                </a:lnTo>
                <a:lnTo>
                  <a:pt x="615" y="1104977"/>
                </a:lnTo>
                <a:lnTo>
                  <a:pt x="0" y="1092801"/>
                </a:lnTo>
                <a:cubicBezTo>
                  <a:pt x="0" y="489264"/>
                  <a:pt x="489264" y="0"/>
                  <a:pt x="109280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8"/>
          <p:cNvSpPr txBox="1"/>
          <p:nvPr/>
        </p:nvSpPr>
        <p:spPr>
          <a:xfrm>
            <a:off x="1983273" y="2037525"/>
            <a:ext cx="8225100" cy="9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00" b="1">
                <a:solidFill>
                  <a:schemeClr val="accent4"/>
                </a:solidFill>
                <a:latin typeface="Verdana"/>
                <a:ea typeface="Verdana"/>
                <a:cs typeface="Verdana"/>
                <a:sym typeface="Verdana"/>
              </a:rPr>
              <a:t>Thank you!</a:t>
            </a:r>
            <a:endParaRPr sz="5500" b="1">
              <a:solidFill>
                <a:schemeClr val="accent4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97" name="Google Shape;397;p18"/>
          <p:cNvSpPr txBox="1"/>
          <p:nvPr/>
        </p:nvSpPr>
        <p:spPr>
          <a:xfrm>
            <a:off x="2758750" y="3525165"/>
            <a:ext cx="667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Questions and Comments?</a:t>
            </a:r>
            <a:endParaRPr sz="2000">
              <a:solidFill>
                <a:srgbClr val="0070C0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grpSp>
        <p:nvGrpSpPr>
          <p:cNvPr id="398" name="Google Shape;398;p18"/>
          <p:cNvGrpSpPr/>
          <p:nvPr/>
        </p:nvGrpSpPr>
        <p:grpSpPr>
          <a:xfrm>
            <a:off x="4906963" y="5005360"/>
            <a:ext cx="2378074" cy="436246"/>
            <a:chOff x="4929134" y="3536850"/>
            <a:chExt cx="1783556" cy="327184"/>
          </a:xfrm>
        </p:grpSpPr>
        <p:sp>
          <p:nvSpPr>
            <p:cNvPr id="399" name="Google Shape;399;p18"/>
            <p:cNvSpPr/>
            <p:nvPr/>
          </p:nvSpPr>
          <p:spPr>
            <a:xfrm>
              <a:off x="4929134" y="3536850"/>
              <a:ext cx="1783556" cy="327184"/>
            </a:xfrm>
            <a:prstGeom prst="roundRect">
              <a:avLst>
                <a:gd name="adj" fmla="val 50000"/>
              </a:avLst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35">
                <a:solidFill>
                  <a:srgbClr val="063C6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" name="Google Shape;400;p18"/>
            <p:cNvSpPr txBox="1"/>
            <p:nvPr/>
          </p:nvSpPr>
          <p:spPr>
            <a:xfrm>
              <a:off x="5305627" y="3559472"/>
              <a:ext cx="1030571" cy="2845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65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EPPS 6302</a:t>
              </a:r>
              <a:endParaRPr sz="1865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</p:grpSp>
      <p:pic>
        <p:nvPicPr>
          <p:cNvPr id="401" name="Google Shape;401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34000" y="-16925"/>
            <a:ext cx="1594800" cy="12630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  <p:transition advTm="8845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/>
                                        <p:tgtEl>
                                          <p:spTgt spid="3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/>
                                        <p:tgtEl>
                                          <p:spTgt spid="3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0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">
  <a:themeElements>
    <a:clrScheme name="Slipstream">
      <a:dk1>
        <a:srgbClr val="000000"/>
      </a:dk1>
      <a:lt1>
        <a:srgbClr val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6CCFF056004E94F97888388747896E3" ma:contentTypeVersion="3" ma:contentTypeDescription="Create a new document." ma:contentTypeScope="" ma:versionID="9da38b82d583b57e290ca580670bc36c">
  <xsd:schema xmlns:xsd="http://www.w3.org/2001/XMLSchema" xmlns:xs="http://www.w3.org/2001/XMLSchema" xmlns:p="http://schemas.microsoft.com/office/2006/metadata/properties" xmlns:ns2="3afb9150-e4e5-4e8e-8813-e1b3b2886be4" targetNamespace="http://schemas.microsoft.com/office/2006/metadata/properties" ma:root="true" ma:fieldsID="512c23c1d7ec9a6d730ea412c68ba10a" ns2:_="">
    <xsd:import namespace="3afb9150-e4e5-4e8e-8813-e1b3b2886be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fb9150-e4e5-4e8e-8813-e1b3b2886be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7F38DC5-1671-4DFD-B3BE-D3A7A6247C18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2172F24E-E386-4C87-A3CE-46521FCD6D8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8283DF5-2BE7-40DF-8A11-AAD70DBBF7A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afb9150-e4e5-4e8e-8813-e1b3b2886be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28</Slides>
  <Notes>28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Office 主题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Regression Result: Key-Word frequency as Binary</vt:lpstr>
      <vt:lpstr>Regression Result: Key-Word frequency as Continuous </vt:lpstr>
      <vt:lpstr>PowerPoint Presentation</vt:lpstr>
      <vt:lpstr>RQ 1. How have policy targets, program areas, and thematic priorities in the Women’s Budget Statements evolved between 1984 and 2025?</vt:lpstr>
      <vt:lpstr>RQ 2. What is the relationship between changes in the Women’s Budget Statements’ topic focus and changes in the GII and HDI in Australia?  </vt:lpstr>
      <vt:lpstr>RQ 3. To what extent do shifts in the content and focus of the Women’s Budget Statements correspond with broader trends in gender equity, as measured by international indices?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Administrator</dc:creator>
  <cp:revision>10</cp:revision>
  <dcterms:created xsi:type="dcterms:W3CDTF">2017-05-23T03:54:00Z</dcterms:created>
  <dcterms:modified xsi:type="dcterms:W3CDTF">2025-12-02T22:42:24Z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2052-10.1.0.6393</vt:lpwstr>
  </property>
  <property fmtid="{D5CDD505-2E9C-101B-9397-08002B2CF9AE}" pid="3" name="ContentTypeId">
    <vt:lpwstr>0x01010086CCFF056004E94F97888388747896E3</vt:lpwstr>
  </property>
</Properties>
</file>